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1" r:id="rId11"/>
  </p:sldIdLst>
  <p:sldSz cx="18288000" cy="10287000"/>
  <p:notesSz cx="6858000" cy="9144000"/>
  <p:embeddedFontLst>
    <p:embeddedFont>
      <p:font typeface="Arial Bold" charset="1" panose="020B0802020202020204"/>
      <p:regular r:id="rId15"/>
    </p:embeddedFont>
    <p:embeddedFont>
      <p:font typeface="Arial" charset="1" panose="020B0502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fonts/font15.fntdata" Type="http://schemas.openxmlformats.org/officeDocument/2006/relationships/font"/><Relationship Id="rId16" Target="fonts/font16.fntdata" Type="http://schemas.openxmlformats.org/officeDocument/2006/relationships/font"/><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presProps.xml" Type="http://schemas.openxmlformats.org/officeDocument/2006/relationships/presProps"/><Relationship Id="rId20" Target="notesSlides/notesSlide5.xml" Type="http://schemas.openxmlformats.org/officeDocument/2006/relationships/notesSlide"/><Relationship Id="rId21"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43400" y="477776"/>
            <a:ext cx="115902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Problem Statement and Team Details</a:t>
            </a:r>
          </a:p>
        </p:txBody>
      </p:sp>
      <p:sp>
        <p:nvSpPr>
          <p:cNvPr name="TextBox 3" id="3"/>
          <p:cNvSpPr txBox="true"/>
          <p:nvPr/>
        </p:nvSpPr>
        <p:spPr>
          <a:xfrm rot="0">
            <a:off x="878924" y="1116889"/>
            <a:ext cx="15004522" cy="10415016"/>
          </a:xfrm>
          <a:prstGeom prst="rect">
            <a:avLst/>
          </a:prstGeom>
        </p:spPr>
        <p:txBody>
          <a:bodyPr anchor="t" rtlCol="false" tIns="0" lIns="0" bIns="0" rIns="0">
            <a:spAutoFit/>
          </a:bodyPr>
          <a:lstStyle/>
          <a:p>
            <a:pPr algn="just">
              <a:lnSpc>
                <a:spcPts val="5040"/>
              </a:lnSpc>
            </a:pPr>
            <a:r>
              <a:rPr lang="en-US" b="true" sz="3000">
                <a:solidFill>
                  <a:srgbClr val="000000"/>
                </a:solidFill>
                <a:latin typeface="Arial Bold"/>
                <a:ea typeface="Arial Bold"/>
                <a:cs typeface="Arial Bold"/>
                <a:sym typeface="Arial Bold"/>
              </a:rPr>
              <a:t> </a:t>
            </a:r>
          </a:p>
          <a:p>
            <a:pPr algn="just">
              <a:lnSpc>
                <a:spcPts val="4703"/>
              </a:lnSpc>
            </a:pPr>
          </a:p>
          <a:p>
            <a:pPr algn="l">
              <a:lnSpc>
                <a:spcPts val="5040"/>
              </a:lnSpc>
            </a:pPr>
            <a:r>
              <a:rPr lang="en-US" b="true" sz="3000">
                <a:solidFill>
                  <a:srgbClr val="000000"/>
                </a:solidFill>
                <a:latin typeface="Arial Bold"/>
                <a:ea typeface="Arial Bold"/>
                <a:cs typeface="Arial Bold"/>
                <a:sym typeface="Arial Bold"/>
              </a:rPr>
              <a:t>Problem Statement:  Lack of Accessibility for Differently abled </a:t>
            </a:r>
          </a:p>
          <a:p>
            <a:pPr algn="l">
              <a:lnSpc>
                <a:spcPts val="5040"/>
              </a:lnSpc>
            </a:pPr>
          </a:p>
          <a:p>
            <a:pPr algn="just">
              <a:lnSpc>
                <a:spcPts val="5040"/>
              </a:lnSpc>
            </a:pPr>
          </a:p>
          <a:p>
            <a:pPr algn="just">
              <a:lnSpc>
                <a:spcPts val="5040"/>
              </a:lnSpc>
            </a:pPr>
            <a:r>
              <a:rPr lang="en-US" b="true" sz="3000">
                <a:solidFill>
                  <a:srgbClr val="000000"/>
                </a:solidFill>
                <a:latin typeface="Arial Bold"/>
                <a:ea typeface="Arial Bold"/>
                <a:cs typeface="Arial Bold"/>
                <a:sym typeface="Arial Bold"/>
              </a:rPr>
              <a:t>Team Name:    Sangachadhwam</a:t>
            </a:r>
          </a:p>
          <a:p>
            <a:pPr algn="just">
              <a:lnSpc>
                <a:spcPts val="4703"/>
              </a:lnSpc>
            </a:pPr>
          </a:p>
          <a:p>
            <a:pPr algn="just">
              <a:lnSpc>
                <a:spcPts val="5040"/>
              </a:lnSpc>
            </a:pPr>
            <a:r>
              <a:rPr lang="en-US" b="true" sz="3000">
                <a:solidFill>
                  <a:srgbClr val="000000"/>
                </a:solidFill>
                <a:latin typeface="Arial Bold"/>
                <a:ea typeface="Arial Bold"/>
                <a:cs typeface="Arial Bold"/>
                <a:sym typeface="Arial Bold"/>
              </a:rPr>
              <a:t>Team Leader Name: A. Bhanu Sree</a:t>
            </a:r>
          </a:p>
          <a:p>
            <a:pPr algn="just">
              <a:lnSpc>
                <a:spcPts val="4076"/>
              </a:lnSpc>
            </a:pPr>
          </a:p>
          <a:p>
            <a:pPr algn="just">
              <a:lnSpc>
                <a:spcPts val="5040"/>
              </a:lnSpc>
            </a:pPr>
            <a:r>
              <a:rPr lang="en-US" b="true" sz="3000">
                <a:solidFill>
                  <a:srgbClr val="000000"/>
                </a:solidFill>
                <a:latin typeface="Arial Bold"/>
                <a:ea typeface="Arial Bold"/>
                <a:cs typeface="Arial Bold"/>
                <a:sym typeface="Arial Bold"/>
              </a:rPr>
              <a:t>Institute Name: VNR Vignana Jyothi Institute of Engineering and Technology</a:t>
            </a:r>
          </a:p>
          <a:p>
            <a:pPr algn="just">
              <a:lnSpc>
                <a:spcPts val="4703"/>
              </a:lnSpc>
            </a:pPr>
          </a:p>
          <a:p>
            <a:pPr algn="just">
              <a:lnSpc>
                <a:spcPts val="5040"/>
              </a:lnSpc>
            </a:pPr>
            <a:r>
              <a:rPr lang="en-US" b="true" sz="3000">
                <a:solidFill>
                  <a:srgbClr val="000000"/>
                </a:solidFill>
                <a:latin typeface="Arial Bold"/>
                <a:ea typeface="Arial Bold"/>
                <a:cs typeface="Arial Bold"/>
                <a:sym typeface="Arial Bold"/>
              </a:rPr>
              <a:t>Theme Name: AI/ML</a:t>
            </a:r>
          </a:p>
          <a:p>
            <a:pPr algn="just">
              <a:lnSpc>
                <a:spcPts val="4703"/>
              </a:lnSpc>
            </a:pPr>
          </a:p>
          <a:p>
            <a:pPr algn="just">
              <a:lnSpc>
                <a:spcPts val="5040"/>
              </a:lnSpc>
            </a:pPr>
            <a:r>
              <a:rPr lang="en-US" b="true" sz="3000">
                <a:solidFill>
                  <a:srgbClr val="000000"/>
                </a:solidFill>
                <a:latin typeface="Arial Bold"/>
                <a:ea typeface="Arial Bold"/>
                <a:cs typeface="Arial Bold"/>
                <a:sym typeface="Arial Bold"/>
              </a:rPr>
              <a:t>Team Leader Email ID: bhanuamjala30@gmail.com</a:t>
            </a:r>
          </a:p>
          <a:p>
            <a:pPr algn="just">
              <a:lnSpc>
                <a:spcPts val="4703"/>
              </a:lnSpc>
            </a:pPr>
          </a:p>
          <a:p>
            <a:pPr algn="just">
              <a:lnSpc>
                <a:spcPts val="4703"/>
              </a:lnSpc>
            </a:pPr>
          </a:p>
          <a:p>
            <a:pPr algn="just">
              <a:lnSpc>
                <a:spcPts val="4703"/>
              </a:lnSpc>
            </a:pPr>
          </a:p>
        </p:txBody>
      </p:sp>
      <p:grpSp>
        <p:nvGrpSpPr>
          <p:cNvPr name="Group 4" id="4"/>
          <p:cNvGrpSpPr>
            <a:grpSpLocks noChangeAspect="true"/>
          </p:cNvGrpSpPr>
          <p:nvPr/>
        </p:nvGrpSpPr>
        <p:grpSpPr>
          <a:xfrm rot="0">
            <a:off x="784100" y="160400"/>
            <a:ext cx="2052300" cy="2052300"/>
            <a:chOff x="0" y="0"/>
            <a:chExt cx="2736400" cy="2736400"/>
          </a:xfrm>
        </p:grpSpPr>
        <p:sp>
          <p:nvSpPr>
            <p:cNvPr name="Freeform 5" id="5"/>
            <p:cNvSpPr/>
            <p:nvPr/>
          </p:nvSpPr>
          <p:spPr>
            <a:xfrm flipH="false" flipV="false" rot="0">
              <a:off x="0" y="0"/>
              <a:ext cx="2736342" cy="2736342"/>
            </a:xfrm>
            <a:custGeom>
              <a:avLst/>
              <a:gdLst/>
              <a:ahLst/>
              <a:cxnLst/>
              <a:rect r="r" b="b" t="t" l="l"/>
              <a:pathLst>
                <a:path h="2736342" w="2736342">
                  <a:moveTo>
                    <a:pt x="0" y="0"/>
                  </a:moveTo>
                  <a:lnTo>
                    <a:pt x="2736342" y="0"/>
                  </a:lnTo>
                  <a:lnTo>
                    <a:pt x="2736342" y="2736342"/>
                  </a:lnTo>
                  <a:lnTo>
                    <a:pt x="0" y="2736342"/>
                  </a:lnTo>
                  <a:lnTo>
                    <a:pt x="0" y="0"/>
                  </a:lnTo>
                  <a:close/>
                </a:path>
              </a:pathLst>
            </a:custGeom>
            <a:blipFill>
              <a:blip r:embed="rId3"/>
              <a:stretch>
                <a:fillRect l="0" t="0" r="-2" b="-2"/>
              </a:stretch>
            </a:blipFill>
          </p:spPr>
        </p:sp>
      </p:grpSp>
      <p:sp>
        <p:nvSpPr>
          <p:cNvPr name="TextBox 6" id="6"/>
          <p:cNvSpPr txBox="true"/>
          <p:nvPr/>
        </p:nvSpPr>
        <p:spPr>
          <a:xfrm rot="0">
            <a:off x="2092783" y="2969287"/>
            <a:ext cx="12576805" cy="1352603"/>
          </a:xfrm>
          <a:prstGeom prst="rect">
            <a:avLst/>
          </a:prstGeom>
        </p:spPr>
        <p:txBody>
          <a:bodyPr anchor="t" rtlCol="false" tIns="0" lIns="0" bIns="0" rIns="0">
            <a:spAutoFit/>
          </a:bodyPr>
          <a:lstStyle/>
          <a:p>
            <a:pPr algn="l">
              <a:lnSpc>
                <a:spcPts val="3565"/>
              </a:lnSpc>
              <a:spcBef>
                <a:spcPct val="0"/>
              </a:spcBef>
            </a:pPr>
            <a:r>
              <a:rPr lang="en-US" sz="2122">
                <a:solidFill>
                  <a:srgbClr val="000000"/>
                </a:solidFill>
                <a:latin typeface="Arial"/>
                <a:ea typeface="Arial"/>
                <a:cs typeface="Arial"/>
                <a:sym typeface="Arial"/>
              </a:rPr>
              <a:t>Many digital platforms and t</a:t>
            </a:r>
            <a:r>
              <a:rPr lang="en-US" sz="2122">
                <a:solidFill>
                  <a:srgbClr val="000000"/>
                </a:solidFill>
                <a:latin typeface="Arial"/>
                <a:ea typeface="Arial"/>
                <a:cs typeface="Arial"/>
                <a:sym typeface="Arial"/>
              </a:rPr>
              <a:t>ools lack accessibility-focused design, making it challenging for individuals with disabilities—such as those with hearing, visual, or cognitive impairments—to fully engage with and benefit from modern technology.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17600" y="0"/>
            <a:ext cx="2052300" cy="2052300"/>
            <a:chOff x="0" y="0"/>
            <a:chExt cx="2736400" cy="2736400"/>
          </a:xfrm>
        </p:grpSpPr>
        <p:sp>
          <p:nvSpPr>
            <p:cNvPr name="Freeform 3" id="3"/>
            <p:cNvSpPr/>
            <p:nvPr/>
          </p:nvSpPr>
          <p:spPr>
            <a:xfrm flipH="false" flipV="false" rot="0">
              <a:off x="0" y="0"/>
              <a:ext cx="2736342" cy="2736342"/>
            </a:xfrm>
            <a:custGeom>
              <a:avLst/>
              <a:gdLst/>
              <a:ahLst/>
              <a:cxnLst/>
              <a:rect r="r" b="b" t="t" l="l"/>
              <a:pathLst>
                <a:path h="2736342" w="2736342">
                  <a:moveTo>
                    <a:pt x="0" y="0"/>
                  </a:moveTo>
                  <a:lnTo>
                    <a:pt x="2736342" y="0"/>
                  </a:lnTo>
                  <a:lnTo>
                    <a:pt x="2736342" y="2736342"/>
                  </a:lnTo>
                  <a:lnTo>
                    <a:pt x="0" y="2736342"/>
                  </a:lnTo>
                  <a:lnTo>
                    <a:pt x="0" y="0"/>
                  </a:lnTo>
                  <a:close/>
                </a:path>
              </a:pathLst>
            </a:custGeom>
            <a:blipFill>
              <a:blip r:embed="rId3"/>
              <a:stretch>
                <a:fillRect l="0" t="0" r="-2" b="-2"/>
              </a:stretch>
            </a:blipFill>
          </p:spPr>
        </p:sp>
      </p:grpSp>
      <p:grpSp>
        <p:nvGrpSpPr>
          <p:cNvPr name="Group 4" id="4"/>
          <p:cNvGrpSpPr/>
          <p:nvPr/>
        </p:nvGrpSpPr>
        <p:grpSpPr>
          <a:xfrm rot="0">
            <a:off x="11164125" y="9382225"/>
            <a:ext cx="1439250" cy="535650"/>
            <a:chOff x="0" y="0"/>
            <a:chExt cx="1919000" cy="714200"/>
          </a:xfrm>
        </p:grpSpPr>
        <p:sp>
          <p:nvSpPr>
            <p:cNvPr name="Freeform 5" id="5"/>
            <p:cNvSpPr/>
            <p:nvPr/>
          </p:nvSpPr>
          <p:spPr>
            <a:xfrm flipH="false" flipV="false" rot="0">
              <a:off x="12700" y="12700"/>
              <a:ext cx="1893570" cy="688848"/>
            </a:xfrm>
            <a:custGeom>
              <a:avLst/>
              <a:gdLst/>
              <a:ahLst/>
              <a:cxnLst/>
              <a:rect r="r" b="b" t="t" l="l"/>
              <a:pathLst>
                <a:path h="688848" w="1893570">
                  <a:moveTo>
                    <a:pt x="0" y="0"/>
                  </a:moveTo>
                  <a:lnTo>
                    <a:pt x="1893570" y="0"/>
                  </a:lnTo>
                  <a:lnTo>
                    <a:pt x="1893570" y="688848"/>
                  </a:lnTo>
                  <a:lnTo>
                    <a:pt x="0" y="688848"/>
                  </a:lnTo>
                  <a:close/>
                </a:path>
              </a:pathLst>
            </a:custGeom>
            <a:solidFill>
              <a:srgbClr val="FFFFFF"/>
            </a:solidFill>
          </p:spPr>
        </p:sp>
        <p:sp>
          <p:nvSpPr>
            <p:cNvPr name="Freeform 6" id="6"/>
            <p:cNvSpPr/>
            <p:nvPr/>
          </p:nvSpPr>
          <p:spPr>
            <a:xfrm flipH="false" flipV="false" rot="0">
              <a:off x="0" y="0"/>
              <a:ext cx="1918970" cy="714248"/>
            </a:xfrm>
            <a:custGeom>
              <a:avLst/>
              <a:gdLst/>
              <a:ahLst/>
              <a:cxnLst/>
              <a:rect r="r" b="b" t="t" l="l"/>
              <a:pathLst>
                <a:path h="714248" w="1918970">
                  <a:moveTo>
                    <a:pt x="12700" y="0"/>
                  </a:moveTo>
                  <a:lnTo>
                    <a:pt x="1906270" y="0"/>
                  </a:lnTo>
                  <a:cubicBezTo>
                    <a:pt x="1913255" y="0"/>
                    <a:pt x="1918970" y="5715"/>
                    <a:pt x="1918970" y="12700"/>
                  </a:cubicBezTo>
                  <a:lnTo>
                    <a:pt x="1918970" y="701548"/>
                  </a:lnTo>
                  <a:cubicBezTo>
                    <a:pt x="1918970" y="708533"/>
                    <a:pt x="1913255" y="714248"/>
                    <a:pt x="1906270" y="714248"/>
                  </a:cubicBezTo>
                  <a:lnTo>
                    <a:pt x="12700" y="714248"/>
                  </a:lnTo>
                  <a:cubicBezTo>
                    <a:pt x="5715" y="714248"/>
                    <a:pt x="0" y="708533"/>
                    <a:pt x="0" y="701548"/>
                  </a:cubicBezTo>
                  <a:lnTo>
                    <a:pt x="0" y="12700"/>
                  </a:lnTo>
                  <a:cubicBezTo>
                    <a:pt x="0" y="5715"/>
                    <a:pt x="5715" y="0"/>
                    <a:pt x="12700" y="0"/>
                  </a:cubicBezTo>
                  <a:moveTo>
                    <a:pt x="12700" y="25400"/>
                  </a:moveTo>
                  <a:lnTo>
                    <a:pt x="12700" y="12700"/>
                  </a:lnTo>
                  <a:lnTo>
                    <a:pt x="25400" y="12700"/>
                  </a:lnTo>
                  <a:lnTo>
                    <a:pt x="25400" y="701548"/>
                  </a:lnTo>
                  <a:lnTo>
                    <a:pt x="12700" y="701548"/>
                  </a:lnTo>
                  <a:lnTo>
                    <a:pt x="12700" y="688848"/>
                  </a:lnTo>
                  <a:lnTo>
                    <a:pt x="1906270" y="688848"/>
                  </a:lnTo>
                  <a:lnTo>
                    <a:pt x="1906270" y="701548"/>
                  </a:lnTo>
                  <a:lnTo>
                    <a:pt x="1893570" y="701548"/>
                  </a:lnTo>
                  <a:lnTo>
                    <a:pt x="1893570" y="12700"/>
                  </a:lnTo>
                  <a:lnTo>
                    <a:pt x="1906270" y="12700"/>
                  </a:lnTo>
                  <a:lnTo>
                    <a:pt x="1906270" y="25400"/>
                  </a:lnTo>
                  <a:lnTo>
                    <a:pt x="12700" y="25400"/>
                  </a:lnTo>
                  <a:close/>
                </a:path>
              </a:pathLst>
            </a:custGeom>
            <a:solidFill>
              <a:srgbClr val="FFFFFF"/>
            </a:solidFill>
          </p:spPr>
        </p:sp>
      </p:grpSp>
      <p:grpSp>
        <p:nvGrpSpPr>
          <p:cNvPr name="Group 7" id="7"/>
          <p:cNvGrpSpPr/>
          <p:nvPr/>
        </p:nvGrpSpPr>
        <p:grpSpPr>
          <a:xfrm rot="0">
            <a:off x="17103925" y="9446775"/>
            <a:ext cx="1193850" cy="527250"/>
            <a:chOff x="0" y="0"/>
            <a:chExt cx="1591800" cy="703000"/>
          </a:xfrm>
        </p:grpSpPr>
        <p:sp>
          <p:nvSpPr>
            <p:cNvPr name="Freeform 8" id="8"/>
            <p:cNvSpPr/>
            <p:nvPr/>
          </p:nvSpPr>
          <p:spPr>
            <a:xfrm flipH="false" flipV="false" rot="0">
              <a:off x="12700" y="12700"/>
              <a:ext cx="1566418" cy="677545"/>
            </a:xfrm>
            <a:custGeom>
              <a:avLst/>
              <a:gdLst/>
              <a:ahLst/>
              <a:cxnLst/>
              <a:rect r="r" b="b" t="t" l="l"/>
              <a:pathLst>
                <a:path h="677545" w="1566418">
                  <a:moveTo>
                    <a:pt x="0" y="0"/>
                  </a:moveTo>
                  <a:lnTo>
                    <a:pt x="1566418" y="0"/>
                  </a:lnTo>
                  <a:lnTo>
                    <a:pt x="1566418" y="677545"/>
                  </a:lnTo>
                  <a:lnTo>
                    <a:pt x="0" y="677545"/>
                  </a:lnTo>
                  <a:close/>
                </a:path>
              </a:pathLst>
            </a:custGeom>
            <a:solidFill>
              <a:srgbClr val="FFFFFF"/>
            </a:solidFill>
          </p:spPr>
        </p:sp>
        <p:sp>
          <p:nvSpPr>
            <p:cNvPr name="Freeform 9" id="9"/>
            <p:cNvSpPr/>
            <p:nvPr/>
          </p:nvSpPr>
          <p:spPr>
            <a:xfrm flipH="false" flipV="false" rot="0">
              <a:off x="0" y="0"/>
              <a:ext cx="1591818" cy="702945"/>
            </a:xfrm>
            <a:custGeom>
              <a:avLst/>
              <a:gdLst/>
              <a:ahLst/>
              <a:cxnLst/>
              <a:rect r="r" b="b" t="t" l="l"/>
              <a:pathLst>
                <a:path h="702945" w="1591818">
                  <a:moveTo>
                    <a:pt x="12700" y="0"/>
                  </a:moveTo>
                  <a:lnTo>
                    <a:pt x="1579118" y="0"/>
                  </a:lnTo>
                  <a:cubicBezTo>
                    <a:pt x="1586103" y="0"/>
                    <a:pt x="1591818" y="5715"/>
                    <a:pt x="1591818" y="12700"/>
                  </a:cubicBezTo>
                  <a:lnTo>
                    <a:pt x="1591818" y="690245"/>
                  </a:lnTo>
                  <a:cubicBezTo>
                    <a:pt x="1591818" y="697230"/>
                    <a:pt x="1586103" y="702945"/>
                    <a:pt x="1579118" y="702945"/>
                  </a:cubicBezTo>
                  <a:lnTo>
                    <a:pt x="12700" y="702945"/>
                  </a:lnTo>
                  <a:cubicBezTo>
                    <a:pt x="5715" y="702945"/>
                    <a:pt x="0" y="697230"/>
                    <a:pt x="0" y="690245"/>
                  </a:cubicBezTo>
                  <a:lnTo>
                    <a:pt x="0" y="12700"/>
                  </a:lnTo>
                  <a:cubicBezTo>
                    <a:pt x="0" y="5715"/>
                    <a:pt x="5715" y="0"/>
                    <a:pt x="12700" y="0"/>
                  </a:cubicBezTo>
                  <a:moveTo>
                    <a:pt x="12700" y="25400"/>
                  </a:moveTo>
                  <a:lnTo>
                    <a:pt x="12700" y="12700"/>
                  </a:lnTo>
                  <a:lnTo>
                    <a:pt x="25400" y="12700"/>
                  </a:lnTo>
                  <a:lnTo>
                    <a:pt x="25400" y="690245"/>
                  </a:lnTo>
                  <a:lnTo>
                    <a:pt x="12700" y="690245"/>
                  </a:lnTo>
                  <a:lnTo>
                    <a:pt x="12700" y="677545"/>
                  </a:lnTo>
                  <a:lnTo>
                    <a:pt x="1579118" y="677545"/>
                  </a:lnTo>
                  <a:lnTo>
                    <a:pt x="1579118" y="690245"/>
                  </a:lnTo>
                  <a:lnTo>
                    <a:pt x="1566418" y="690245"/>
                  </a:lnTo>
                  <a:lnTo>
                    <a:pt x="1566418" y="12700"/>
                  </a:lnTo>
                  <a:lnTo>
                    <a:pt x="1579118" y="12700"/>
                  </a:lnTo>
                  <a:lnTo>
                    <a:pt x="1579118" y="25400"/>
                  </a:lnTo>
                  <a:lnTo>
                    <a:pt x="12700" y="25400"/>
                  </a:lnTo>
                  <a:close/>
                </a:path>
              </a:pathLst>
            </a:custGeom>
            <a:solidFill>
              <a:srgbClr val="FFFFFF"/>
            </a:solidFill>
          </p:spPr>
        </p:sp>
      </p:grpSp>
      <p:sp>
        <p:nvSpPr>
          <p:cNvPr name="TextBox 10" id="10"/>
          <p:cNvSpPr txBox="true"/>
          <p:nvPr/>
        </p:nvSpPr>
        <p:spPr>
          <a:xfrm rot="0">
            <a:off x="4124394" y="146562"/>
            <a:ext cx="100392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Problem and Solution</a:t>
            </a:r>
          </a:p>
        </p:txBody>
      </p:sp>
      <p:sp>
        <p:nvSpPr>
          <p:cNvPr name="Freeform 11" id="11"/>
          <p:cNvSpPr/>
          <p:nvPr/>
        </p:nvSpPr>
        <p:spPr>
          <a:xfrm flipH="false" flipV="false" rot="0">
            <a:off x="875440" y="2195038"/>
            <a:ext cx="16228485" cy="7778987"/>
          </a:xfrm>
          <a:custGeom>
            <a:avLst/>
            <a:gdLst/>
            <a:ahLst/>
            <a:cxnLst/>
            <a:rect r="r" b="b" t="t" l="l"/>
            <a:pathLst>
              <a:path h="7778987" w="16228485">
                <a:moveTo>
                  <a:pt x="0" y="0"/>
                </a:moveTo>
                <a:lnTo>
                  <a:pt x="16228485" y="0"/>
                </a:lnTo>
                <a:lnTo>
                  <a:pt x="16228485" y="7778987"/>
                </a:lnTo>
                <a:lnTo>
                  <a:pt x="0" y="77789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186600" y="2511271"/>
            <a:ext cx="15390337" cy="6832854"/>
          </a:xfrm>
          <a:prstGeom prst="rect">
            <a:avLst/>
          </a:prstGeom>
        </p:spPr>
        <p:txBody>
          <a:bodyPr anchor="t" rtlCol="false" tIns="0" lIns="0" bIns="0" rIns="0">
            <a:spAutoFit/>
          </a:bodyPr>
          <a:lstStyle/>
          <a:p>
            <a:pPr algn="just">
              <a:lnSpc>
                <a:spcPts val="5040"/>
              </a:lnSpc>
            </a:pPr>
            <a:r>
              <a:rPr lang="en-US" sz="3000" b="true">
                <a:solidFill>
                  <a:srgbClr val="000000"/>
                </a:solidFill>
                <a:latin typeface="Arial Bold"/>
                <a:ea typeface="Arial Bold"/>
                <a:cs typeface="Arial Bold"/>
                <a:sym typeface="Arial Bold"/>
              </a:rPr>
              <a:t>Lack of Financial Accessibility for Differently Abled Individuals</a:t>
            </a:r>
          </a:p>
          <a:p>
            <a:pPr algn="just">
              <a:lnSpc>
                <a:spcPts val="3695"/>
              </a:lnSpc>
            </a:pPr>
            <a:r>
              <a:rPr lang="en-US" sz="2199" b="true">
                <a:solidFill>
                  <a:srgbClr val="000000"/>
                </a:solidFill>
                <a:latin typeface="Arial Bold"/>
                <a:ea typeface="Arial Bold"/>
                <a:cs typeface="Arial Bold"/>
                <a:sym typeface="Arial Bold"/>
              </a:rPr>
              <a:t> </a:t>
            </a:r>
            <a:r>
              <a:rPr lang="en-US" sz="2199">
                <a:solidFill>
                  <a:srgbClr val="000000"/>
                </a:solidFill>
                <a:latin typeface="Arial"/>
                <a:ea typeface="Arial"/>
                <a:cs typeface="Arial"/>
                <a:sym typeface="Arial"/>
              </a:rPr>
              <a:t>Many individuals with disabilities especially those with cognitive or visual impairments—struggle with managing and tracking daily expenses. Even when they maintain notes or manual records, these are often unorganized, hard to retrieve, and not user-friendly. Traditional financial tools lack inclusive design features, making personal finance management a barrier to independence.</a:t>
            </a:r>
          </a:p>
          <a:p>
            <a:pPr algn="just">
              <a:lnSpc>
                <a:spcPts val="4367"/>
              </a:lnSpc>
            </a:pPr>
            <a:r>
              <a:rPr lang="en-US" sz="2599" b="true">
                <a:solidFill>
                  <a:srgbClr val="000000"/>
                </a:solidFill>
                <a:latin typeface="Arial Bold"/>
                <a:ea typeface="Arial Bold"/>
                <a:cs typeface="Arial Bold"/>
                <a:sym typeface="Arial Bold"/>
              </a:rPr>
              <a:t>The Proposed Solution: Smart Pocket App</a:t>
            </a:r>
          </a:p>
          <a:p>
            <a:pPr algn="just">
              <a:lnSpc>
                <a:spcPts val="3695"/>
              </a:lnSpc>
            </a:pPr>
            <a:r>
              <a:rPr lang="en-US" sz="2199">
                <a:solidFill>
                  <a:srgbClr val="000000"/>
                </a:solidFill>
                <a:latin typeface="Arial"/>
                <a:ea typeface="Arial"/>
                <a:cs typeface="Arial"/>
                <a:sym typeface="Arial"/>
              </a:rPr>
              <a:t>An AI-powered accessible personal finance assistant designed to simplify and organize expense tracking for differently-abled individuals.</a:t>
            </a:r>
          </a:p>
          <a:p>
            <a:pPr algn="just">
              <a:lnSpc>
                <a:spcPts val="3695"/>
              </a:lnSpc>
            </a:pPr>
            <a:r>
              <a:rPr lang="en-US" sz="2199">
                <a:solidFill>
                  <a:srgbClr val="000000"/>
                </a:solidFill>
                <a:latin typeface="Arial"/>
                <a:ea typeface="Arial"/>
                <a:cs typeface="Arial"/>
                <a:sym typeface="Arial"/>
              </a:rPr>
              <a:t>Key Features:</a:t>
            </a:r>
          </a:p>
          <a:p>
            <a:pPr algn="just" marL="474979" indent="-237490" lvl="1">
              <a:lnSpc>
                <a:spcPts val="3695"/>
              </a:lnSpc>
              <a:buFont typeface="Arial"/>
              <a:buChar char="•"/>
            </a:pPr>
            <a:r>
              <a:rPr lang="en-US" sz="2199">
                <a:solidFill>
                  <a:srgbClr val="000000"/>
                </a:solidFill>
                <a:latin typeface="Arial"/>
                <a:ea typeface="Arial"/>
                <a:cs typeface="Arial"/>
                <a:sym typeface="Arial"/>
              </a:rPr>
              <a:t>AI powered Voice-to-Text entries and Visual UI entries for non-verbal.</a:t>
            </a:r>
          </a:p>
          <a:p>
            <a:pPr algn="just" marL="474979" indent="-237490" lvl="1">
              <a:lnSpc>
                <a:spcPts val="3695"/>
              </a:lnSpc>
              <a:buFont typeface="Arial"/>
              <a:buChar char="•"/>
            </a:pPr>
            <a:r>
              <a:rPr lang="en-US" sz="2199">
                <a:solidFill>
                  <a:srgbClr val="000000"/>
                </a:solidFill>
                <a:latin typeface="Arial"/>
                <a:ea typeface="Arial"/>
                <a:cs typeface="Arial"/>
                <a:sym typeface="Arial"/>
              </a:rPr>
              <a:t> Intelligent Logging System</a:t>
            </a:r>
          </a:p>
          <a:p>
            <a:pPr algn="just" marL="474979" indent="-237490" lvl="1">
              <a:lnSpc>
                <a:spcPts val="3695"/>
              </a:lnSpc>
              <a:buFont typeface="Arial"/>
              <a:buChar char="•"/>
            </a:pPr>
            <a:r>
              <a:rPr lang="en-US" sz="2199">
                <a:solidFill>
                  <a:srgbClr val="000000"/>
                </a:solidFill>
                <a:latin typeface="Arial"/>
                <a:ea typeface="Arial"/>
                <a:cs typeface="Arial"/>
                <a:sym typeface="Arial"/>
              </a:rPr>
              <a:t>Smart Search for Transactions</a:t>
            </a:r>
          </a:p>
          <a:p>
            <a:pPr algn="just" marL="474979" indent="-237490" lvl="1">
              <a:lnSpc>
                <a:spcPts val="3695"/>
              </a:lnSpc>
              <a:buFont typeface="Arial"/>
              <a:buChar char="•"/>
            </a:pPr>
            <a:r>
              <a:rPr lang="en-US" sz="2199">
                <a:solidFill>
                  <a:srgbClr val="000000"/>
                </a:solidFill>
                <a:latin typeface="Arial"/>
                <a:ea typeface="Arial"/>
                <a:cs typeface="Arial"/>
                <a:sym typeface="Arial"/>
              </a:rPr>
              <a:t>Expense Overview Dashboard</a:t>
            </a:r>
          </a:p>
          <a:p>
            <a:pPr algn="just" marL="474979" indent="-237490" lvl="1">
              <a:lnSpc>
                <a:spcPts val="3695"/>
              </a:lnSpc>
              <a:buFont typeface="Arial"/>
              <a:buChar char="•"/>
            </a:pPr>
            <a:r>
              <a:rPr lang="en-US" sz="2199">
                <a:solidFill>
                  <a:srgbClr val="000000"/>
                </a:solidFill>
                <a:latin typeface="Arial"/>
                <a:ea typeface="Arial"/>
                <a:cs typeface="Arial"/>
                <a:sym typeface="Arial"/>
              </a:rPr>
              <a:t>Reminders &amp; Budget Alerts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475950" y="263100"/>
            <a:ext cx="2052300" cy="2052300"/>
            <a:chOff x="0" y="0"/>
            <a:chExt cx="2736400" cy="2736400"/>
          </a:xfrm>
        </p:grpSpPr>
        <p:sp>
          <p:nvSpPr>
            <p:cNvPr name="Freeform 3" id="3"/>
            <p:cNvSpPr/>
            <p:nvPr/>
          </p:nvSpPr>
          <p:spPr>
            <a:xfrm flipH="false" flipV="false" rot="0">
              <a:off x="0" y="0"/>
              <a:ext cx="2736342" cy="2736342"/>
            </a:xfrm>
            <a:custGeom>
              <a:avLst/>
              <a:gdLst/>
              <a:ahLst/>
              <a:cxnLst/>
              <a:rect r="r" b="b" t="t" l="l"/>
              <a:pathLst>
                <a:path h="2736342" w="2736342">
                  <a:moveTo>
                    <a:pt x="0" y="0"/>
                  </a:moveTo>
                  <a:lnTo>
                    <a:pt x="2736342" y="0"/>
                  </a:lnTo>
                  <a:lnTo>
                    <a:pt x="2736342" y="2736342"/>
                  </a:lnTo>
                  <a:lnTo>
                    <a:pt x="0" y="2736342"/>
                  </a:lnTo>
                  <a:lnTo>
                    <a:pt x="0" y="0"/>
                  </a:lnTo>
                  <a:close/>
                </a:path>
              </a:pathLst>
            </a:custGeom>
            <a:blipFill>
              <a:blip r:embed="rId3"/>
              <a:stretch>
                <a:fillRect l="0" t="0" r="-2" b="-2"/>
              </a:stretch>
            </a:blipFill>
          </p:spPr>
        </p:sp>
      </p:grpSp>
      <p:sp>
        <p:nvSpPr>
          <p:cNvPr name="TextBox 4" id="4"/>
          <p:cNvSpPr txBox="true"/>
          <p:nvPr/>
        </p:nvSpPr>
        <p:spPr>
          <a:xfrm rot="0">
            <a:off x="4103702" y="316750"/>
            <a:ext cx="100806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Methodology &amp; Implementation</a:t>
            </a:r>
          </a:p>
        </p:txBody>
      </p:sp>
      <p:sp>
        <p:nvSpPr>
          <p:cNvPr name="Freeform 5" id="5"/>
          <p:cNvSpPr/>
          <p:nvPr/>
        </p:nvSpPr>
        <p:spPr>
          <a:xfrm flipH="false" flipV="false" rot="0">
            <a:off x="1085533" y="2377296"/>
            <a:ext cx="16281704" cy="7444754"/>
          </a:xfrm>
          <a:custGeom>
            <a:avLst/>
            <a:gdLst/>
            <a:ahLst/>
            <a:cxnLst/>
            <a:rect r="r" b="b" t="t" l="l"/>
            <a:pathLst>
              <a:path h="7444754" w="16281704">
                <a:moveTo>
                  <a:pt x="0" y="0"/>
                </a:moveTo>
                <a:lnTo>
                  <a:pt x="16281704" y="0"/>
                </a:lnTo>
                <a:lnTo>
                  <a:pt x="16281704" y="7444754"/>
                </a:lnTo>
                <a:lnTo>
                  <a:pt x="0" y="74447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76311" y="2615659"/>
            <a:ext cx="9570032" cy="6516506"/>
          </a:xfrm>
          <a:prstGeom prst="rect">
            <a:avLst/>
          </a:prstGeom>
        </p:spPr>
        <p:txBody>
          <a:bodyPr anchor="t" rtlCol="false" tIns="0" lIns="0" bIns="0" rIns="0">
            <a:spAutoFit/>
          </a:bodyPr>
          <a:lstStyle/>
          <a:p>
            <a:pPr algn="l">
              <a:lnSpc>
                <a:spcPts val="3227"/>
              </a:lnSpc>
              <a:spcBef>
                <a:spcPct val="0"/>
              </a:spcBef>
            </a:pPr>
            <a:r>
              <a:rPr lang="en-US" sz="1921">
                <a:solidFill>
                  <a:srgbClr val="000000"/>
                </a:solidFill>
                <a:latin typeface="Arial"/>
                <a:ea typeface="Arial"/>
                <a:cs typeface="Arial"/>
                <a:sym typeface="Arial"/>
              </a:rPr>
              <a:t>Smart P</a:t>
            </a:r>
            <a:r>
              <a:rPr lang="en-US" sz="1921">
                <a:solidFill>
                  <a:srgbClr val="000000"/>
                </a:solidFill>
                <a:latin typeface="Arial"/>
                <a:ea typeface="Arial"/>
                <a:cs typeface="Arial"/>
                <a:sym typeface="Arial"/>
              </a:rPr>
              <a:t>ocket is an AI-powered, voice/speech-adaptive expenses tracker app especially those with visual, cognitive, or memory impairments. </a:t>
            </a:r>
          </a:p>
          <a:p>
            <a:pPr algn="l">
              <a:lnSpc>
                <a:spcPts val="3227"/>
              </a:lnSpc>
              <a:spcBef>
                <a:spcPct val="0"/>
              </a:spcBef>
            </a:pPr>
            <a:r>
              <a:rPr lang="en-US" sz="1921">
                <a:solidFill>
                  <a:srgbClr val="000000"/>
                </a:solidFill>
                <a:latin typeface="Arial"/>
                <a:ea typeface="Arial"/>
                <a:cs typeface="Arial"/>
                <a:sym typeface="Arial"/>
              </a:rPr>
              <a:t>It allows users to simply speak their transactions aloud, which are then transcribed, categorized and logged automatically.</a:t>
            </a:r>
          </a:p>
          <a:p>
            <a:pPr algn="l" marL="414747" indent="-207374" lvl="1">
              <a:lnSpc>
                <a:spcPts val="3227"/>
              </a:lnSpc>
              <a:buFont typeface="Arial"/>
              <a:buChar char="•"/>
            </a:pPr>
            <a:r>
              <a:rPr lang="en-US" sz="1921">
                <a:solidFill>
                  <a:srgbClr val="000000"/>
                </a:solidFill>
                <a:latin typeface="Arial"/>
                <a:ea typeface="Arial"/>
                <a:cs typeface="Arial"/>
                <a:sym typeface="Arial"/>
              </a:rPr>
              <a:t>The app </a:t>
            </a:r>
            <a:r>
              <a:rPr lang="en-US" sz="1921">
                <a:solidFill>
                  <a:srgbClr val="000000"/>
                </a:solidFill>
                <a:latin typeface="Arial"/>
                <a:ea typeface="Arial"/>
                <a:cs typeface="Arial"/>
                <a:sym typeface="Arial"/>
              </a:rPr>
              <a:t>has a user-centric design, include "simple mode" and reduce cognitive load.</a:t>
            </a:r>
          </a:p>
          <a:p>
            <a:pPr algn="l" marL="414747" indent="-207374" lvl="1">
              <a:lnSpc>
                <a:spcPts val="3227"/>
              </a:lnSpc>
              <a:buFont typeface="Arial"/>
              <a:buChar char="•"/>
            </a:pPr>
            <a:r>
              <a:rPr lang="en-US" sz="1921">
                <a:solidFill>
                  <a:srgbClr val="000000"/>
                </a:solidFill>
                <a:latin typeface="Arial"/>
                <a:ea typeface="Arial"/>
                <a:cs typeface="Arial"/>
                <a:sym typeface="Arial"/>
              </a:rPr>
              <a:t>Real-time processing of natural voice commands like, “I spent 200 on groceries”, “Paid rent 5000 yesterday” and optional text input, visual tap UI for non-verbal.</a:t>
            </a:r>
          </a:p>
          <a:p>
            <a:pPr algn="l" marL="414747" indent="-207374" lvl="1">
              <a:lnSpc>
                <a:spcPts val="3227"/>
              </a:lnSpc>
              <a:buFont typeface="Arial"/>
              <a:buChar char="•"/>
            </a:pPr>
            <a:r>
              <a:rPr lang="en-US" sz="1921">
                <a:solidFill>
                  <a:srgbClr val="000000"/>
                </a:solidFill>
                <a:latin typeface="Arial"/>
                <a:ea typeface="Arial"/>
                <a:cs typeface="Arial"/>
                <a:sym typeface="Arial"/>
              </a:rPr>
              <a:t>It enables user to retrieve past transactions using voice search and allows voice or tap-based manual corrections for maximum flexibility.</a:t>
            </a:r>
          </a:p>
          <a:p>
            <a:pPr algn="l" marL="414747" indent="-207374" lvl="1">
              <a:lnSpc>
                <a:spcPts val="3227"/>
              </a:lnSpc>
              <a:buFont typeface="Arial"/>
              <a:buChar char="•"/>
            </a:pPr>
            <a:r>
              <a:rPr lang="en-US" sz="1921">
                <a:solidFill>
                  <a:srgbClr val="000000"/>
                </a:solidFill>
                <a:latin typeface="Arial"/>
                <a:ea typeface="Arial"/>
                <a:cs typeface="Arial"/>
                <a:sym typeface="Arial"/>
              </a:rPr>
              <a:t>It has a simplified visual dashboard, charts with audio summaries, cues or haptics to generate insights like weekly spending summaries, highest-spent categories, etc.</a:t>
            </a:r>
          </a:p>
          <a:p>
            <a:pPr algn="l" marL="414747" indent="-207374" lvl="1">
              <a:lnSpc>
                <a:spcPts val="3227"/>
              </a:lnSpc>
              <a:buFont typeface="Arial"/>
              <a:buChar char="•"/>
            </a:pPr>
            <a:r>
              <a:rPr lang="en-US" sz="1921">
                <a:solidFill>
                  <a:srgbClr val="000000"/>
                </a:solidFill>
                <a:latin typeface="Arial"/>
                <a:ea typeface="Arial"/>
                <a:cs typeface="Arial"/>
                <a:sym typeface="Arial"/>
              </a:rPr>
              <a:t>It tracks the routine spendings and reminds the recurring patterns e.g., monthly rent paid, it also sends budget alerts.</a:t>
            </a:r>
          </a:p>
          <a:p>
            <a:pPr algn="l" marL="414747" indent="-207374" lvl="1">
              <a:lnSpc>
                <a:spcPts val="3227"/>
              </a:lnSpc>
              <a:buFont typeface="Arial"/>
              <a:buChar char="•"/>
            </a:pPr>
            <a:r>
              <a:rPr lang="en-US" sz="1921">
                <a:solidFill>
                  <a:srgbClr val="000000"/>
                </a:solidFill>
                <a:latin typeface="Arial"/>
                <a:ea typeface="Arial"/>
                <a:cs typeface="Arial"/>
                <a:sym typeface="Arial"/>
              </a:rPr>
              <a:t>The app allow voice entries to be stored locally and synced when online.</a:t>
            </a:r>
          </a:p>
          <a:p>
            <a:pPr algn="l" marL="414747" indent="-207374" lvl="1">
              <a:lnSpc>
                <a:spcPts val="3227"/>
              </a:lnSpc>
              <a:buFont typeface="Arial"/>
              <a:buChar char="•"/>
            </a:pPr>
            <a:r>
              <a:rPr lang="en-US" sz="1921">
                <a:solidFill>
                  <a:srgbClr val="000000"/>
                </a:solidFill>
                <a:latin typeface="Arial"/>
                <a:ea typeface="Arial"/>
                <a:cs typeface="Arial"/>
                <a:sym typeface="Arial"/>
              </a:rPr>
              <a:t>The user can also share the transaction history and the visualization to caretakers.</a:t>
            </a:r>
          </a:p>
          <a:p>
            <a:pPr algn="l">
              <a:lnSpc>
                <a:spcPts val="3227"/>
              </a:lnSpc>
            </a:pPr>
          </a:p>
        </p:txBody>
      </p:sp>
      <p:sp>
        <p:nvSpPr>
          <p:cNvPr name="TextBox 7" id="7"/>
          <p:cNvSpPr txBox="true"/>
          <p:nvPr/>
        </p:nvSpPr>
        <p:spPr>
          <a:xfrm rot="0">
            <a:off x="11056263" y="2729959"/>
            <a:ext cx="6103678" cy="7441709"/>
          </a:xfrm>
          <a:prstGeom prst="rect">
            <a:avLst/>
          </a:prstGeom>
        </p:spPr>
        <p:txBody>
          <a:bodyPr anchor="t" rtlCol="false" tIns="0" lIns="0" bIns="0" rIns="0">
            <a:spAutoFit/>
          </a:bodyPr>
          <a:lstStyle/>
          <a:p>
            <a:pPr algn="just">
              <a:lnSpc>
                <a:spcPts val="2288"/>
              </a:lnSpc>
            </a:pPr>
            <a:r>
              <a:rPr lang="en-US" b="true" sz="1362" u="sng">
                <a:solidFill>
                  <a:srgbClr val="000000"/>
                </a:solidFill>
                <a:latin typeface="Arial Bold"/>
                <a:ea typeface="Arial Bold"/>
                <a:cs typeface="Arial Bold"/>
                <a:sym typeface="Arial Bold"/>
              </a:rPr>
              <a:t>Tech Stack</a:t>
            </a:r>
          </a:p>
          <a:p>
            <a:pPr algn="l">
              <a:lnSpc>
                <a:spcPts val="2288"/>
              </a:lnSpc>
            </a:pPr>
            <a:r>
              <a:rPr lang="en-US" sz="1362" b="true">
                <a:solidFill>
                  <a:srgbClr val="000000"/>
                </a:solidFill>
                <a:latin typeface="Arial Bold"/>
                <a:ea typeface="Arial Bold"/>
                <a:cs typeface="Arial Bold"/>
                <a:sym typeface="Arial Bold"/>
              </a:rPr>
              <a:t>Frontend (Mobile App</a:t>
            </a:r>
            <a:r>
              <a:rPr lang="en-US" sz="1362">
                <a:solidFill>
                  <a:srgbClr val="000000"/>
                </a:solidFill>
                <a:latin typeface="Arial"/>
                <a:ea typeface="Arial"/>
                <a:cs typeface="Arial"/>
                <a:sym typeface="Arial"/>
              </a:rPr>
              <a:t>)</a:t>
            </a:r>
          </a:p>
          <a:p>
            <a:pPr algn="l" marL="294103" indent="-147051" lvl="1">
              <a:lnSpc>
                <a:spcPts val="2288"/>
              </a:lnSpc>
              <a:buFont typeface="Arial"/>
              <a:buChar char="•"/>
            </a:pPr>
            <a:r>
              <a:rPr lang="en-US" sz="1362">
                <a:solidFill>
                  <a:srgbClr val="000000"/>
                </a:solidFill>
                <a:latin typeface="Arial"/>
                <a:ea typeface="Arial"/>
                <a:cs typeface="Arial"/>
                <a:sym typeface="Arial"/>
              </a:rPr>
              <a:t>React Native – Cross-platform mobile framework</a:t>
            </a:r>
          </a:p>
          <a:p>
            <a:pPr algn="l" marL="294103" indent="-147051" lvl="1">
              <a:lnSpc>
                <a:spcPts val="2288"/>
              </a:lnSpc>
              <a:buFont typeface="Arial"/>
              <a:buChar char="•"/>
            </a:pPr>
            <a:r>
              <a:rPr lang="en-US" sz="1362">
                <a:solidFill>
                  <a:srgbClr val="000000"/>
                </a:solidFill>
                <a:latin typeface="Arial"/>
                <a:ea typeface="Arial"/>
                <a:cs typeface="Arial"/>
                <a:sym typeface="Arial"/>
              </a:rPr>
              <a:t>React Native Voice / Expo-Speech – Mic input &amp; voice prompts</a:t>
            </a:r>
          </a:p>
          <a:p>
            <a:pPr algn="l" marL="294103" indent="-147051" lvl="1">
              <a:lnSpc>
                <a:spcPts val="2288"/>
              </a:lnSpc>
              <a:buFont typeface="Arial"/>
              <a:buChar char="•"/>
            </a:pPr>
            <a:r>
              <a:rPr lang="en-US" sz="1362">
                <a:solidFill>
                  <a:srgbClr val="000000"/>
                </a:solidFill>
                <a:latin typeface="Arial"/>
                <a:ea typeface="Arial"/>
                <a:cs typeface="Arial"/>
                <a:sym typeface="Arial"/>
              </a:rPr>
              <a:t>Victory Native / Recharts – Expense charts and summaries</a:t>
            </a:r>
          </a:p>
          <a:p>
            <a:pPr algn="l" marL="294103" indent="-147051" lvl="1">
              <a:lnSpc>
                <a:spcPts val="2288"/>
              </a:lnSpc>
              <a:buFont typeface="Arial"/>
              <a:buChar char="•"/>
            </a:pPr>
            <a:r>
              <a:rPr lang="en-US" sz="1362">
                <a:solidFill>
                  <a:srgbClr val="000000"/>
                </a:solidFill>
                <a:latin typeface="Arial"/>
                <a:ea typeface="Arial"/>
                <a:cs typeface="Arial"/>
                <a:sym typeface="Arial"/>
              </a:rPr>
              <a:t>AsyncStorage / SQLite – Local offline storage</a:t>
            </a:r>
          </a:p>
          <a:p>
            <a:pPr algn="l" marL="294103" indent="-147051" lvl="1">
              <a:lnSpc>
                <a:spcPts val="2288"/>
              </a:lnSpc>
              <a:buFont typeface="Arial"/>
              <a:buChar char="•"/>
            </a:pPr>
            <a:r>
              <a:rPr lang="en-US" sz="1362">
                <a:solidFill>
                  <a:srgbClr val="000000"/>
                </a:solidFill>
                <a:latin typeface="Arial"/>
                <a:ea typeface="Arial"/>
                <a:cs typeface="Arial"/>
                <a:sym typeface="Arial"/>
              </a:rPr>
              <a:t>Accessibility Features – Screen reader support, high contrast UI, gesture-friendly layouts</a:t>
            </a:r>
          </a:p>
          <a:p>
            <a:pPr algn="l">
              <a:lnSpc>
                <a:spcPts val="2288"/>
              </a:lnSpc>
            </a:pPr>
            <a:r>
              <a:rPr lang="en-US" sz="1362">
                <a:solidFill>
                  <a:srgbClr val="000000"/>
                </a:solidFill>
                <a:latin typeface="Arial"/>
                <a:ea typeface="Arial"/>
                <a:cs typeface="Arial"/>
                <a:sym typeface="Arial"/>
              </a:rPr>
              <a:t> </a:t>
            </a:r>
            <a:r>
              <a:rPr lang="en-US" sz="1362" b="true">
                <a:solidFill>
                  <a:srgbClr val="000000"/>
                </a:solidFill>
                <a:latin typeface="Arial Bold"/>
                <a:ea typeface="Arial Bold"/>
                <a:cs typeface="Arial Bold"/>
                <a:sym typeface="Arial Bold"/>
              </a:rPr>
              <a:t>AI &amp; Voice Intelligence:</a:t>
            </a:r>
          </a:p>
          <a:p>
            <a:pPr algn="l" marL="294103" indent="-147051" lvl="1">
              <a:lnSpc>
                <a:spcPts val="2288"/>
              </a:lnSpc>
              <a:buFont typeface="Arial"/>
              <a:buChar char="•"/>
            </a:pPr>
            <a:r>
              <a:rPr lang="en-US" sz="1362">
                <a:solidFill>
                  <a:srgbClr val="000000"/>
                </a:solidFill>
                <a:latin typeface="Arial"/>
                <a:ea typeface="Arial"/>
                <a:cs typeface="Arial"/>
                <a:sym typeface="Arial"/>
              </a:rPr>
              <a:t>Voice-to-Text (STT) - OpenAI Whisper API/Google Cloud Speech-to-Text</a:t>
            </a:r>
          </a:p>
          <a:p>
            <a:pPr algn="l" marL="294103" indent="-147051" lvl="1">
              <a:lnSpc>
                <a:spcPts val="2288"/>
              </a:lnSpc>
              <a:buFont typeface="Arial"/>
              <a:buChar char="•"/>
            </a:pPr>
            <a:r>
              <a:rPr lang="en-US" sz="1362">
                <a:solidFill>
                  <a:srgbClr val="000000"/>
                </a:solidFill>
                <a:latin typeface="Arial"/>
                <a:ea typeface="Arial"/>
                <a:cs typeface="Arial"/>
                <a:sym typeface="Arial"/>
              </a:rPr>
              <a:t>NLP Parsing -spaCy / Hugging Face Transformers</a:t>
            </a:r>
          </a:p>
          <a:p>
            <a:pPr algn="l" marL="294103" indent="-147051" lvl="1">
              <a:lnSpc>
                <a:spcPts val="2288"/>
              </a:lnSpc>
              <a:buFont typeface="Arial"/>
              <a:buChar char="•"/>
            </a:pPr>
            <a:r>
              <a:rPr lang="en-US" sz="1362">
                <a:solidFill>
                  <a:srgbClr val="000000"/>
                </a:solidFill>
                <a:latin typeface="Arial"/>
                <a:ea typeface="Arial"/>
                <a:cs typeface="Arial"/>
                <a:sym typeface="Arial"/>
              </a:rPr>
              <a:t>Smart Voice Search-NLP-based query interpretation, Routine Tracking AI- TensorFlow.js / Python on backend, Voice Feedback- Expo Speech or Google TTS</a:t>
            </a:r>
          </a:p>
          <a:p>
            <a:pPr algn="l">
              <a:lnSpc>
                <a:spcPts val="2288"/>
              </a:lnSpc>
            </a:pPr>
            <a:r>
              <a:rPr lang="en-US" b="true" sz="1362">
                <a:solidFill>
                  <a:srgbClr val="000000"/>
                </a:solidFill>
                <a:latin typeface="Arial Bold"/>
                <a:ea typeface="Arial Bold"/>
                <a:cs typeface="Arial Bold"/>
                <a:sym typeface="Arial Bold"/>
              </a:rPr>
              <a:t>Backend:</a:t>
            </a:r>
          </a:p>
          <a:p>
            <a:pPr algn="l" marL="294103" indent="-147051" lvl="1">
              <a:lnSpc>
                <a:spcPts val="2288"/>
              </a:lnSpc>
              <a:buFont typeface="Arial"/>
              <a:buChar char="•"/>
            </a:pPr>
            <a:r>
              <a:rPr lang="en-US" sz="1362">
                <a:solidFill>
                  <a:srgbClr val="000000"/>
                </a:solidFill>
                <a:latin typeface="Arial"/>
                <a:ea typeface="Arial"/>
                <a:cs typeface="Arial"/>
                <a:sym typeface="Arial"/>
              </a:rPr>
              <a:t>Node.js + Express – REST API server</a:t>
            </a:r>
          </a:p>
          <a:p>
            <a:pPr algn="l" marL="294103" indent="-147051" lvl="1">
              <a:lnSpc>
                <a:spcPts val="2288"/>
              </a:lnSpc>
              <a:buFont typeface="Arial"/>
              <a:buChar char="•"/>
            </a:pPr>
            <a:r>
              <a:rPr lang="en-US" sz="1362">
                <a:solidFill>
                  <a:srgbClr val="000000"/>
                </a:solidFill>
                <a:latin typeface="Arial"/>
                <a:ea typeface="Arial"/>
                <a:cs typeface="Arial"/>
                <a:sym typeface="Arial"/>
              </a:rPr>
              <a:t>Firebase Firestore / MongoDB Atlas – Cloud database for expense logs</a:t>
            </a:r>
          </a:p>
          <a:p>
            <a:pPr algn="l" marL="294103" indent="-147051" lvl="1">
              <a:lnSpc>
                <a:spcPts val="2288"/>
              </a:lnSpc>
              <a:buFont typeface="Arial"/>
              <a:buChar char="•"/>
            </a:pPr>
            <a:r>
              <a:rPr lang="en-US" sz="1362">
                <a:solidFill>
                  <a:srgbClr val="000000"/>
                </a:solidFill>
                <a:latin typeface="Arial"/>
                <a:ea typeface="Arial"/>
                <a:cs typeface="Arial"/>
                <a:sym typeface="Arial"/>
              </a:rPr>
              <a:t>Firebase Cloud Functions / Node-cron – For scheduled reminders &amp; habit detection</a:t>
            </a:r>
          </a:p>
          <a:p>
            <a:pPr algn="l">
              <a:lnSpc>
                <a:spcPts val="2288"/>
              </a:lnSpc>
            </a:pPr>
            <a:r>
              <a:rPr lang="en-US" b="true" sz="1362">
                <a:solidFill>
                  <a:srgbClr val="000000"/>
                </a:solidFill>
                <a:latin typeface="Arial Bold"/>
                <a:ea typeface="Arial Bold"/>
                <a:cs typeface="Arial Bold"/>
                <a:sym typeface="Arial Bold"/>
              </a:rPr>
              <a:t>Deployment:</a:t>
            </a:r>
          </a:p>
          <a:p>
            <a:pPr algn="l" marL="294103" indent="-147051" lvl="1">
              <a:lnSpc>
                <a:spcPts val="2288"/>
              </a:lnSpc>
              <a:buFont typeface="Arial"/>
              <a:buChar char="•"/>
            </a:pPr>
            <a:r>
              <a:rPr lang="en-US" sz="1362">
                <a:solidFill>
                  <a:srgbClr val="000000"/>
                </a:solidFill>
                <a:latin typeface="Arial"/>
                <a:ea typeface="Arial"/>
                <a:cs typeface="Arial"/>
                <a:sym typeface="Arial"/>
              </a:rPr>
              <a:t>Expo + EAS – Build and update app</a:t>
            </a:r>
          </a:p>
          <a:p>
            <a:pPr algn="l" marL="294103" indent="-147051" lvl="1">
              <a:lnSpc>
                <a:spcPts val="2288"/>
              </a:lnSpc>
              <a:buFont typeface="Arial"/>
              <a:buChar char="•"/>
            </a:pPr>
            <a:r>
              <a:rPr lang="en-US" sz="1362">
                <a:solidFill>
                  <a:srgbClr val="000000"/>
                </a:solidFill>
                <a:latin typeface="Arial"/>
                <a:ea typeface="Arial"/>
                <a:cs typeface="Arial"/>
                <a:sym typeface="Arial"/>
              </a:rPr>
              <a:t>Render / Firebase Hosting – Host backend services</a:t>
            </a:r>
          </a:p>
          <a:p>
            <a:pPr algn="l" marL="294103" indent="-147051" lvl="1">
              <a:lnSpc>
                <a:spcPts val="2288"/>
              </a:lnSpc>
              <a:buFont typeface="Arial"/>
              <a:buChar char="•"/>
            </a:pPr>
            <a:r>
              <a:rPr lang="en-US" sz="1362">
                <a:solidFill>
                  <a:srgbClr val="000000"/>
                </a:solidFill>
                <a:latin typeface="Arial"/>
                <a:ea typeface="Arial"/>
                <a:cs typeface="Arial"/>
                <a:sym typeface="Arial"/>
              </a:rPr>
              <a:t>Firebase Analytics / Sentry – App monitoring &amp; crash reports</a:t>
            </a:r>
          </a:p>
          <a:p>
            <a:pPr algn="l">
              <a:lnSpc>
                <a:spcPts val="2288"/>
              </a:lnSpc>
              <a:spcBef>
                <a:spcPct val="0"/>
              </a:spcBef>
            </a:pPr>
          </a:p>
          <a:p>
            <a:pPr algn="l">
              <a:lnSpc>
                <a:spcPts val="2288"/>
              </a:lnSpc>
              <a:spcBef>
                <a:spcPct val="0"/>
              </a:spcBef>
            </a:pPr>
          </a:p>
          <a:p>
            <a:pPr algn="l">
              <a:lnSpc>
                <a:spcPts val="2288"/>
              </a:lnSpc>
              <a:spcBef>
                <a:spcPct val="0"/>
              </a:spcBef>
            </a:pPr>
          </a:p>
        </p:txBody>
      </p:sp>
      <p:sp>
        <p:nvSpPr>
          <p:cNvPr name="AutoShape 8" id="8"/>
          <p:cNvSpPr/>
          <p:nvPr/>
        </p:nvSpPr>
        <p:spPr>
          <a:xfrm>
            <a:off x="10846343" y="2749009"/>
            <a:ext cx="0" cy="6383156"/>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39850" y="262050"/>
            <a:ext cx="2052300" cy="2052300"/>
            <a:chOff x="0" y="0"/>
            <a:chExt cx="2736400" cy="2736400"/>
          </a:xfrm>
        </p:grpSpPr>
        <p:sp>
          <p:nvSpPr>
            <p:cNvPr name="Freeform 3" id="3"/>
            <p:cNvSpPr/>
            <p:nvPr/>
          </p:nvSpPr>
          <p:spPr>
            <a:xfrm flipH="false" flipV="false" rot="0">
              <a:off x="0" y="0"/>
              <a:ext cx="2736342" cy="2736342"/>
            </a:xfrm>
            <a:custGeom>
              <a:avLst/>
              <a:gdLst/>
              <a:ahLst/>
              <a:cxnLst/>
              <a:rect r="r" b="b" t="t" l="l"/>
              <a:pathLst>
                <a:path h="2736342" w="2736342">
                  <a:moveTo>
                    <a:pt x="0" y="0"/>
                  </a:moveTo>
                  <a:lnTo>
                    <a:pt x="2736342" y="0"/>
                  </a:lnTo>
                  <a:lnTo>
                    <a:pt x="2736342" y="2736342"/>
                  </a:lnTo>
                  <a:lnTo>
                    <a:pt x="0" y="2736342"/>
                  </a:lnTo>
                  <a:lnTo>
                    <a:pt x="0" y="0"/>
                  </a:lnTo>
                  <a:close/>
                </a:path>
              </a:pathLst>
            </a:custGeom>
            <a:blipFill>
              <a:blip r:embed="rId3"/>
              <a:stretch>
                <a:fillRect l="0" t="0" r="-2" b="-2"/>
              </a:stretch>
            </a:blipFill>
          </p:spPr>
        </p:sp>
      </p:grpSp>
      <p:sp>
        <p:nvSpPr>
          <p:cNvPr name="Freeform 4" id="4"/>
          <p:cNvSpPr/>
          <p:nvPr/>
        </p:nvSpPr>
        <p:spPr>
          <a:xfrm flipH="false" flipV="false" rot="0">
            <a:off x="9844889" y="2535598"/>
            <a:ext cx="8065360" cy="7218671"/>
          </a:xfrm>
          <a:custGeom>
            <a:avLst/>
            <a:gdLst/>
            <a:ahLst/>
            <a:cxnLst/>
            <a:rect r="r" b="b" t="t" l="l"/>
            <a:pathLst>
              <a:path h="7218671" w="8065360">
                <a:moveTo>
                  <a:pt x="0" y="0"/>
                </a:moveTo>
                <a:lnTo>
                  <a:pt x="8065360" y="0"/>
                </a:lnTo>
                <a:lnTo>
                  <a:pt x="8065360" y="7218672"/>
                </a:lnTo>
                <a:lnTo>
                  <a:pt x="0" y="72186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81321" y="2377300"/>
            <a:ext cx="8065360" cy="7218671"/>
          </a:xfrm>
          <a:custGeom>
            <a:avLst/>
            <a:gdLst/>
            <a:ahLst/>
            <a:cxnLst/>
            <a:rect r="r" b="b" t="t" l="l"/>
            <a:pathLst>
              <a:path h="7218671" w="8065360">
                <a:moveTo>
                  <a:pt x="0" y="0"/>
                </a:moveTo>
                <a:lnTo>
                  <a:pt x="8065360" y="0"/>
                </a:lnTo>
                <a:lnTo>
                  <a:pt x="8065360" y="7218671"/>
                </a:lnTo>
                <a:lnTo>
                  <a:pt x="0" y="72186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883203" y="2535598"/>
            <a:ext cx="5014001" cy="3257200"/>
          </a:xfrm>
          <a:custGeom>
            <a:avLst/>
            <a:gdLst/>
            <a:ahLst/>
            <a:cxnLst/>
            <a:rect r="r" b="b" t="t" l="l"/>
            <a:pathLst>
              <a:path h="3257200" w="5014001">
                <a:moveTo>
                  <a:pt x="0" y="0"/>
                </a:moveTo>
                <a:lnTo>
                  <a:pt x="5014001" y="0"/>
                </a:lnTo>
                <a:lnTo>
                  <a:pt x="5014001" y="3257201"/>
                </a:lnTo>
                <a:lnTo>
                  <a:pt x="0" y="3257201"/>
                </a:lnTo>
                <a:lnTo>
                  <a:pt x="0" y="0"/>
                </a:lnTo>
                <a:close/>
              </a:path>
            </a:pathLst>
          </a:custGeom>
          <a:blipFill>
            <a:blip r:embed="rId6"/>
            <a:stretch>
              <a:fillRect l="0" t="0" r="0" b="-2623"/>
            </a:stretch>
          </a:blipFill>
        </p:spPr>
      </p:sp>
      <p:sp>
        <p:nvSpPr>
          <p:cNvPr name="Freeform 7" id="7"/>
          <p:cNvSpPr/>
          <p:nvPr/>
        </p:nvSpPr>
        <p:spPr>
          <a:xfrm flipH="false" flipV="false" rot="0">
            <a:off x="981321" y="5792799"/>
            <a:ext cx="3465501" cy="3465501"/>
          </a:xfrm>
          <a:custGeom>
            <a:avLst/>
            <a:gdLst/>
            <a:ahLst/>
            <a:cxnLst/>
            <a:rect r="r" b="b" t="t" l="l"/>
            <a:pathLst>
              <a:path h="3465501" w="3465501">
                <a:moveTo>
                  <a:pt x="0" y="0"/>
                </a:moveTo>
                <a:lnTo>
                  <a:pt x="3465501" y="0"/>
                </a:lnTo>
                <a:lnTo>
                  <a:pt x="3465501" y="3465501"/>
                </a:lnTo>
                <a:lnTo>
                  <a:pt x="0" y="3465501"/>
                </a:lnTo>
                <a:lnTo>
                  <a:pt x="0" y="0"/>
                </a:lnTo>
                <a:close/>
              </a:path>
            </a:pathLst>
          </a:custGeom>
          <a:blipFill>
            <a:blip r:embed="rId7"/>
            <a:stretch>
              <a:fillRect l="0" t="0" r="0" b="0"/>
            </a:stretch>
          </a:blipFill>
        </p:spPr>
      </p:sp>
      <p:sp>
        <p:nvSpPr>
          <p:cNvPr name="Freeform 8" id="8"/>
          <p:cNvSpPr/>
          <p:nvPr/>
        </p:nvSpPr>
        <p:spPr>
          <a:xfrm flipH="false" flipV="false" rot="0">
            <a:off x="1028700" y="2535598"/>
            <a:ext cx="2854503" cy="3257200"/>
          </a:xfrm>
          <a:custGeom>
            <a:avLst/>
            <a:gdLst/>
            <a:ahLst/>
            <a:cxnLst/>
            <a:rect r="r" b="b" t="t" l="l"/>
            <a:pathLst>
              <a:path h="3257200" w="2854503">
                <a:moveTo>
                  <a:pt x="0" y="0"/>
                </a:moveTo>
                <a:lnTo>
                  <a:pt x="2854503" y="0"/>
                </a:lnTo>
                <a:lnTo>
                  <a:pt x="2854503" y="3257201"/>
                </a:lnTo>
                <a:lnTo>
                  <a:pt x="0" y="3257201"/>
                </a:lnTo>
                <a:lnTo>
                  <a:pt x="0" y="0"/>
                </a:lnTo>
                <a:close/>
              </a:path>
            </a:pathLst>
          </a:custGeom>
          <a:blipFill>
            <a:blip r:embed="rId8"/>
            <a:stretch>
              <a:fillRect l="-3425" t="-23615" r="0" b="-12427"/>
            </a:stretch>
          </a:blipFill>
        </p:spPr>
      </p:sp>
      <p:grpSp>
        <p:nvGrpSpPr>
          <p:cNvPr name="Group 9" id="9"/>
          <p:cNvGrpSpPr/>
          <p:nvPr/>
        </p:nvGrpSpPr>
        <p:grpSpPr>
          <a:xfrm rot="0">
            <a:off x="12334519" y="2969024"/>
            <a:ext cx="3163797" cy="828235"/>
            <a:chOff x="0" y="0"/>
            <a:chExt cx="833263" cy="218136"/>
          </a:xfrm>
        </p:grpSpPr>
        <p:sp>
          <p:nvSpPr>
            <p:cNvPr name="Freeform 10" id="10"/>
            <p:cNvSpPr/>
            <p:nvPr/>
          </p:nvSpPr>
          <p:spPr>
            <a:xfrm flipH="false" flipV="false" rot="0">
              <a:off x="0" y="0"/>
              <a:ext cx="833263" cy="218136"/>
            </a:xfrm>
            <a:custGeom>
              <a:avLst/>
              <a:gdLst/>
              <a:ahLst/>
              <a:cxnLst/>
              <a:rect r="r" b="b" t="t" l="l"/>
              <a:pathLst>
                <a:path h="218136" w="833263">
                  <a:moveTo>
                    <a:pt x="0" y="0"/>
                  </a:moveTo>
                  <a:lnTo>
                    <a:pt x="833263" y="0"/>
                  </a:lnTo>
                  <a:lnTo>
                    <a:pt x="833263" y="218136"/>
                  </a:lnTo>
                  <a:lnTo>
                    <a:pt x="0" y="218136"/>
                  </a:lnTo>
                  <a:close/>
                </a:path>
              </a:pathLst>
            </a:custGeom>
            <a:solidFill>
              <a:srgbClr val="000000">
                <a:alpha val="0"/>
              </a:srgbClr>
            </a:solidFill>
            <a:ln w="38100" cap="sq">
              <a:solidFill>
                <a:srgbClr val="000000"/>
              </a:solidFill>
              <a:prstDash val="solid"/>
              <a:miter/>
            </a:ln>
          </p:spPr>
        </p:sp>
        <p:sp>
          <p:nvSpPr>
            <p:cNvPr name="TextBox 11" id="11"/>
            <p:cNvSpPr txBox="true"/>
            <p:nvPr/>
          </p:nvSpPr>
          <p:spPr>
            <a:xfrm>
              <a:off x="0" y="-47625"/>
              <a:ext cx="833263" cy="26576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933596" y="78850"/>
            <a:ext cx="104208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Flowchart &amp; Supporting Images</a:t>
            </a:r>
          </a:p>
        </p:txBody>
      </p:sp>
      <p:sp>
        <p:nvSpPr>
          <p:cNvPr name="TextBox 13" id="13"/>
          <p:cNvSpPr txBox="true"/>
          <p:nvPr/>
        </p:nvSpPr>
        <p:spPr>
          <a:xfrm rot="0">
            <a:off x="11992710" y="3002300"/>
            <a:ext cx="3769717" cy="6149646"/>
          </a:xfrm>
          <a:prstGeom prst="rect">
            <a:avLst/>
          </a:prstGeom>
        </p:spPr>
        <p:txBody>
          <a:bodyPr anchor="t" rtlCol="false" tIns="0" lIns="0" bIns="0" rIns="0">
            <a:spAutoFit/>
          </a:bodyPr>
          <a:lstStyle/>
          <a:p>
            <a:pPr algn="ctr">
              <a:lnSpc>
                <a:spcPts val="2170"/>
              </a:lnSpc>
            </a:pPr>
            <a:r>
              <a:rPr lang="en-US" sz="1291" b="true">
                <a:solidFill>
                  <a:srgbClr val="000000"/>
                </a:solidFill>
                <a:latin typeface="Arial Bold"/>
                <a:ea typeface="Arial Bold"/>
                <a:cs typeface="Arial Bold"/>
                <a:sym typeface="Arial Bold"/>
              </a:rPr>
              <a:t>1.User Speaks</a:t>
            </a:r>
          </a:p>
          <a:p>
            <a:pPr algn="ctr">
              <a:lnSpc>
                <a:spcPts val="2170"/>
              </a:lnSpc>
            </a:pPr>
            <a:r>
              <a:rPr lang="en-US" sz="1291" b="true">
                <a:solidFill>
                  <a:srgbClr val="000000"/>
                </a:solidFill>
                <a:latin typeface="Arial Bold"/>
                <a:ea typeface="Arial Bold"/>
                <a:cs typeface="Arial Bold"/>
                <a:sym typeface="Arial Bold"/>
              </a:rPr>
              <a:t>  e.g., “I spent ₹200 on food today”</a:t>
            </a:r>
          </a:p>
          <a:p>
            <a:pPr algn="ctr">
              <a:lnSpc>
                <a:spcPts val="2170"/>
              </a:lnSpc>
            </a:pPr>
          </a:p>
          <a:p>
            <a:pPr algn="ctr">
              <a:lnSpc>
                <a:spcPts val="2170"/>
              </a:lnSpc>
            </a:pPr>
            <a:r>
              <a:rPr lang="en-US" sz="1291" b="true">
                <a:solidFill>
                  <a:srgbClr val="000000"/>
                </a:solidFill>
                <a:latin typeface="Arial Bold"/>
                <a:ea typeface="Arial Bold"/>
                <a:cs typeface="Arial Bold"/>
                <a:sym typeface="Arial Bold"/>
              </a:rPr>
              <a:t> </a:t>
            </a:r>
          </a:p>
          <a:p>
            <a:pPr algn="ctr">
              <a:lnSpc>
                <a:spcPts val="2170"/>
              </a:lnSpc>
            </a:pPr>
          </a:p>
          <a:p>
            <a:pPr algn="ctr">
              <a:lnSpc>
                <a:spcPts val="2170"/>
              </a:lnSpc>
            </a:pPr>
            <a:r>
              <a:rPr lang="en-US" sz="1291" b="true">
                <a:solidFill>
                  <a:srgbClr val="000000"/>
                </a:solidFill>
                <a:latin typeface="Arial Bold"/>
                <a:ea typeface="Arial Bold"/>
                <a:cs typeface="Arial Bold"/>
                <a:sym typeface="Arial Bold"/>
              </a:rPr>
              <a:t>2.</a:t>
            </a:r>
            <a:r>
              <a:rPr lang="en-US" sz="1291" b="true">
                <a:solidFill>
                  <a:srgbClr val="000000"/>
                </a:solidFill>
                <a:latin typeface="Arial Bold"/>
                <a:ea typeface="Arial Bold"/>
                <a:cs typeface="Arial Bold"/>
                <a:sym typeface="Arial Bold"/>
              </a:rPr>
              <a:t> Speech-to-Text</a:t>
            </a:r>
          </a:p>
          <a:p>
            <a:pPr algn="ctr">
              <a:lnSpc>
                <a:spcPts val="2170"/>
              </a:lnSpc>
            </a:pPr>
            <a:r>
              <a:rPr lang="en-US" sz="1291" b="true">
                <a:solidFill>
                  <a:srgbClr val="000000"/>
                </a:solidFill>
                <a:latin typeface="Arial Bold"/>
                <a:ea typeface="Arial Bold"/>
                <a:cs typeface="Arial Bold"/>
                <a:sym typeface="Arial Bold"/>
              </a:rPr>
              <a:t>  Converts voice to text</a:t>
            </a:r>
          </a:p>
          <a:p>
            <a:pPr algn="ctr">
              <a:lnSpc>
                <a:spcPts val="2170"/>
              </a:lnSpc>
            </a:pPr>
          </a:p>
          <a:p>
            <a:pPr algn="ctr">
              <a:lnSpc>
                <a:spcPts val="2170"/>
              </a:lnSpc>
            </a:pPr>
            <a:r>
              <a:rPr lang="en-US" sz="1291" b="true">
                <a:solidFill>
                  <a:srgbClr val="000000"/>
                </a:solidFill>
                <a:latin typeface="Arial Bold"/>
                <a:ea typeface="Arial Bold"/>
                <a:cs typeface="Arial Bold"/>
                <a:sym typeface="Arial Bold"/>
              </a:rPr>
              <a:t> </a:t>
            </a:r>
          </a:p>
          <a:p>
            <a:pPr algn="ctr">
              <a:lnSpc>
                <a:spcPts val="2170"/>
              </a:lnSpc>
            </a:pPr>
          </a:p>
          <a:p>
            <a:pPr algn="ctr">
              <a:lnSpc>
                <a:spcPts val="2170"/>
              </a:lnSpc>
            </a:pPr>
            <a:r>
              <a:rPr lang="en-US" sz="1291" b="true">
                <a:solidFill>
                  <a:srgbClr val="000000"/>
                </a:solidFill>
                <a:latin typeface="Arial Bold"/>
                <a:ea typeface="Arial Bold"/>
                <a:cs typeface="Arial Bold"/>
                <a:sym typeface="Arial Bold"/>
              </a:rPr>
              <a:t>3.</a:t>
            </a:r>
            <a:r>
              <a:rPr lang="en-US" sz="1291" b="true">
                <a:solidFill>
                  <a:srgbClr val="000000"/>
                </a:solidFill>
                <a:latin typeface="Arial Bold"/>
                <a:ea typeface="Arial Bold"/>
                <a:cs typeface="Arial Bold"/>
                <a:sym typeface="Arial Bold"/>
              </a:rPr>
              <a:t> NLP Processing</a:t>
            </a:r>
          </a:p>
          <a:p>
            <a:pPr algn="ctr">
              <a:lnSpc>
                <a:spcPts val="2170"/>
              </a:lnSpc>
              <a:spcBef>
                <a:spcPct val="0"/>
              </a:spcBef>
            </a:pPr>
            <a:r>
              <a:rPr lang="en-US" b="true" sz="1291">
                <a:solidFill>
                  <a:srgbClr val="000000"/>
                </a:solidFill>
                <a:latin typeface="Arial Bold"/>
                <a:ea typeface="Arial Bold"/>
                <a:cs typeface="Arial Bold"/>
                <a:sym typeface="Arial Bold"/>
              </a:rPr>
              <a:t> Extracts am</a:t>
            </a:r>
            <a:r>
              <a:rPr lang="en-US" b="true" sz="1291">
                <a:solidFill>
                  <a:srgbClr val="000000"/>
                </a:solidFill>
                <a:latin typeface="Arial Bold"/>
                <a:ea typeface="Arial Bold"/>
                <a:cs typeface="Arial Bold"/>
                <a:sym typeface="Arial Bold"/>
              </a:rPr>
              <a:t>ount, category, date</a:t>
            </a:r>
          </a:p>
          <a:p>
            <a:pPr algn="ctr">
              <a:lnSpc>
                <a:spcPts val="2170"/>
              </a:lnSpc>
              <a:spcBef>
                <a:spcPct val="0"/>
              </a:spcBef>
            </a:pPr>
          </a:p>
          <a:p>
            <a:pPr algn="ctr">
              <a:lnSpc>
                <a:spcPts val="2170"/>
              </a:lnSpc>
              <a:spcBef>
                <a:spcPct val="0"/>
              </a:spcBef>
            </a:pPr>
            <a:r>
              <a:rPr lang="en-US" b="true" sz="1291">
                <a:solidFill>
                  <a:srgbClr val="000000"/>
                </a:solidFill>
                <a:latin typeface="Arial Bold"/>
                <a:ea typeface="Arial Bold"/>
                <a:cs typeface="Arial Bold"/>
                <a:sym typeface="Arial Bold"/>
              </a:rPr>
              <a:t> </a:t>
            </a:r>
          </a:p>
          <a:p>
            <a:pPr algn="ctr">
              <a:lnSpc>
                <a:spcPts val="2170"/>
              </a:lnSpc>
              <a:spcBef>
                <a:spcPct val="0"/>
              </a:spcBef>
            </a:pPr>
          </a:p>
          <a:p>
            <a:pPr algn="ctr">
              <a:lnSpc>
                <a:spcPts val="2170"/>
              </a:lnSpc>
              <a:spcBef>
                <a:spcPct val="0"/>
              </a:spcBef>
            </a:pPr>
            <a:r>
              <a:rPr lang="en-US" b="true" sz="1291">
                <a:solidFill>
                  <a:srgbClr val="000000"/>
                </a:solidFill>
                <a:latin typeface="Arial Bold"/>
                <a:ea typeface="Arial Bold"/>
                <a:cs typeface="Arial Bold"/>
                <a:sym typeface="Arial Bold"/>
              </a:rPr>
              <a:t>4.Expense Logged</a:t>
            </a:r>
          </a:p>
          <a:p>
            <a:pPr algn="ctr">
              <a:lnSpc>
                <a:spcPts val="2170"/>
              </a:lnSpc>
              <a:spcBef>
                <a:spcPct val="0"/>
              </a:spcBef>
            </a:pPr>
            <a:r>
              <a:rPr lang="en-US" b="true" sz="1291">
                <a:solidFill>
                  <a:srgbClr val="000000"/>
                </a:solidFill>
                <a:latin typeface="Arial Bold"/>
                <a:ea typeface="Arial Bold"/>
                <a:cs typeface="Arial Bold"/>
                <a:sym typeface="Arial Bold"/>
              </a:rPr>
              <a:t> Stores in secure, organized format</a:t>
            </a:r>
          </a:p>
          <a:p>
            <a:pPr algn="ctr">
              <a:lnSpc>
                <a:spcPts val="2170"/>
              </a:lnSpc>
              <a:spcBef>
                <a:spcPct val="0"/>
              </a:spcBef>
            </a:pPr>
          </a:p>
          <a:p>
            <a:pPr algn="ctr">
              <a:lnSpc>
                <a:spcPts val="2170"/>
              </a:lnSpc>
              <a:spcBef>
                <a:spcPct val="0"/>
              </a:spcBef>
            </a:pPr>
          </a:p>
          <a:p>
            <a:pPr algn="ctr">
              <a:lnSpc>
                <a:spcPts val="2170"/>
              </a:lnSpc>
              <a:spcBef>
                <a:spcPct val="0"/>
              </a:spcBef>
            </a:pPr>
            <a:r>
              <a:rPr lang="en-US" b="true" sz="1291">
                <a:solidFill>
                  <a:srgbClr val="000000"/>
                </a:solidFill>
                <a:latin typeface="Arial Bold"/>
                <a:ea typeface="Arial Bold"/>
                <a:cs typeface="Arial Bold"/>
                <a:sym typeface="Arial Bold"/>
              </a:rPr>
              <a:t>5. Smart Summary</a:t>
            </a:r>
          </a:p>
          <a:p>
            <a:pPr algn="ctr">
              <a:lnSpc>
                <a:spcPts val="2170"/>
              </a:lnSpc>
              <a:spcBef>
                <a:spcPct val="0"/>
              </a:spcBef>
            </a:pPr>
            <a:r>
              <a:rPr lang="en-US" b="true" sz="1291">
                <a:solidFill>
                  <a:srgbClr val="000000"/>
                </a:solidFill>
                <a:latin typeface="Arial Bold"/>
                <a:ea typeface="Arial Bold"/>
                <a:cs typeface="Arial Bold"/>
                <a:sym typeface="Arial Bold"/>
              </a:rPr>
              <a:t>                Generates visual report/dashboard &amp;</a:t>
            </a:r>
          </a:p>
          <a:p>
            <a:pPr algn="ctr">
              <a:lnSpc>
                <a:spcPts val="2170"/>
              </a:lnSpc>
              <a:spcBef>
                <a:spcPct val="0"/>
              </a:spcBef>
            </a:pPr>
            <a:r>
              <a:rPr lang="en-US" b="true" sz="1291">
                <a:solidFill>
                  <a:srgbClr val="000000"/>
                </a:solidFill>
                <a:latin typeface="Arial Bold"/>
                <a:ea typeface="Arial Bold"/>
                <a:cs typeface="Arial Bold"/>
                <a:sym typeface="Arial Bold"/>
              </a:rPr>
              <a:t> answers queries</a:t>
            </a:r>
          </a:p>
          <a:p>
            <a:pPr algn="ctr">
              <a:lnSpc>
                <a:spcPts val="2222"/>
              </a:lnSpc>
              <a:spcBef>
                <a:spcPct val="0"/>
              </a:spcBef>
            </a:pPr>
            <a:r>
              <a:rPr lang="en-US" b="true" sz="1322">
                <a:solidFill>
                  <a:srgbClr val="000000"/>
                </a:solidFill>
                <a:latin typeface="Arial Bold"/>
                <a:ea typeface="Arial Bold"/>
                <a:cs typeface="Arial Bold"/>
                <a:sym typeface="Arial Bold"/>
              </a:rPr>
              <a:t> e.g., “Your food expense this week is ₹1,200”</a:t>
            </a:r>
          </a:p>
        </p:txBody>
      </p:sp>
      <p:sp>
        <p:nvSpPr>
          <p:cNvPr name="AutoShape 14" id="14"/>
          <p:cNvSpPr/>
          <p:nvPr/>
        </p:nvSpPr>
        <p:spPr>
          <a:xfrm flipH="true">
            <a:off x="13877569" y="3797259"/>
            <a:ext cx="38849" cy="518006"/>
          </a:xfrm>
          <a:prstGeom prst="line">
            <a:avLst/>
          </a:prstGeom>
          <a:ln cap="flat" w="38100">
            <a:solidFill>
              <a:srgbClr val="000000"/>
            </a:solidFill>
            <a:prstDash val="solid"/>
            <a:headEnd type="none" len="sm" w="sm"/>
            <a:tailEnd type="arrow" len="sm" w="med"/>
          </a:ln>
        </p:spPr>
      </p:sp>
      <p:grpSp>
        <p:nvGrpSpPr>
          <p:cNvPr name="Group 15" id="15"/>
          <p:cNvGrpSpPr/>
          <p:nvPr/>
        </p:nvGrpSpPr>
        <p:grpSpPr>
          <a:xfrm rot="0">
            <a:off x="12334519" y="4315265"/>
            <a:ext cx="3163797" cy="828235"/>
            <a:chOff x="0" y="0"/>
            <a:chExt cx="833263" cy="218136"/>
          </a:xfrm>
        </p:grpSpPr>
        <p:sp>
          <p:nvSpPr>
            <p:cNvPr name="Freeform 16" id="16"/>
            <p:cNvSpPr/>
            <p:nvPr/>
          </p:nvSpPr>
          <p:spPr>
            <a:xfrm flipH="false" flipV="false" rot="0">
              <a:off x="0" y="0"/>
              <a:ext cx="833263" cy="218136"/>
            </a:xfrm>
            <a:custGeom>
              <a:avLst/>
              <a:gdLst/>
              <a:ahLst/>
              <a:cxnLst/>
              <a:rect r="r" b="b" t="t" l="l"/>
              <a:pathLst>
                <a:path h="218136" w="833263">
                  <a:moveTo>
                    <a:pt x="0" y="0"/>
                  </a:moveTo>
                  <a:lnTo>
                    <a:pt x="833263" y="0"/>
                  </a:lnTo>
                  <a:lnTo>
                    <a:pt x="833263" y="218136"/>
                  </a:lnTo>
                  <a:lnTo>
                    <a:pt x="0" y="218136"/>
                  </a:lnTo>
                  <a:close/>
                </a:path>
              </a:pathLst>
            </a:custGeom>
            <a:solidFill>
              <a:srgbClr val="000000">
                <a:alpha val="0"/>
              </a:srgbClr>
            </a:solidFill>
            <a:ln w="38100" cap="sq">
              <a:solidFill>
                <a:srgbClr val="000000"/>
              </a:solidFill>
              <a:prstDash val="solid"/>
              <a:miter/>
            </a:ln>
          </p:spPr>
        </p:sp>
        <p:sp>
          <p:nvSpPr>
            <p:cNvPr name="TextBox 17" id="17"/>
            <p:cNvSpPr txBox="true"/>
            <p:nvPr/>
          </p:nvSpPr>
          <p:spPr>
            <a:xfrm>
              <a:off x="0" y="-47625"/>
              <a:ext cx="833263" cy="26576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334519" y="5661506"/>
            <a:ext cx="3163797" cy="828235"/>
            <a:chOff x="0" y="0"/>
            <a:chExt cx="833263" cy="218136"/>
          </a:xfrm>
        </p:grpSpPr>
        <p:sp>
          <p:nvSpPr>
            <p:cNvPr name="Freeform 19" id="19"/>
            <p:cNvSpPr/>
            <p:nvPr/>
          </p:nvSpPr>
          <p:spPr>
            <a:xfrm flipH="false" flipV="false" rot="0">
              <a:off x="0" y="0"/>
              <a:ext cx="833263" cy="218136"/>
            </a:xfrm>
            <a:custGeom>
              <a:avLst/>
              <a:gdLst/>
              <a:ahLst/>
              <a:cxnLst/>
              <a:rect r="r" b="b" t="t" l="l"/>
              <a:pathLst>
                <a:path h="218136" w="833263">
                  <a:moveTo>
                    <a:pt x="0" y="0"/>
                  </a:moveTo>
                  <a:lnTo>
                    <a:pt x="833263" y="0"/>
                  </a:lnTo>
                  <a:lnTo>
                    <a:pt x="833263" y="218136"/>
                  </a:lnTo>
                  <a:lnTo>
                    <a:pt x="0" y="218136"/>
                  </a:lnTo>
                  <a:close/>
                </a:path>
              </a:pathLst>
            </a:custGeom>
            <a:solidFill>
              <a:srgbClr val="000000">
                <a:alpha val="0"/>
              </a:srgbClr>
            </a:solidFill>
            <a:ln w="38100" cap="sq">
              <a:solidFill>
                <a:srgbClr val="000000"/>
              </a:solidFill>
              <a:prstDash val="solid"/>
              <a:miter/>
            </a:ln>
          </p:spPr>
        </p:sp>
        <p:sp>
          <p:nvSpPr>
            <p:cNvPr name="TextBox 20" id="20"/>
            <p:cNvSpPr txBox="true"/>
            <p:nvPr/>
          </p:nvSpPr>
          <p:spPr>
            <a:xfrm>
              <a:off x="0" y="-47625"/>
              <a:ext cx="833263" cy="26576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334519" y="7007747"/>
            <a:ext cx="3163797" cy="828235"/>
            <a:chOff x="0" y="0"/>
            <a:chExt cx="833263" cy="218136"/>
          </a:xfrm>
        </p:grpSpPr>
        <p:sp>
          <p:nvSpPr>
            <p:cNvPr name="Freeform 22" id="22"/>
            <p:cNvSpPr/>
            <p:nvPr/>
          </p:nvSpPr>
          <p:spPr>
            <a:xfrm flipH="false" flipV="false" rot="0">
              <a:off x="0" y="0"/>
              <a:ext cx="833263" cy="218136"/>
            </a:xfrm>
            <a:custGeom>
              <a:avLst/>
              <a:gdLst/>
              <a:ahLst/>
              <a:cxnLst/>
              <a:rect r="r" b="b" t="t" l="l"/>
              <a:pathLst>
                <a:path h="218136" w="833263">
                  <a:moveTo>
                    <a:pt x="0" y="0"/>
                  </a:moveTo>
                  <a:lnTo>
                    <a:pt x="833263" y="0"/>
                  </a:lnTo>
                  <a:lnTo>
                    <a:pt x="833263" y="218136"/>
                  </a:lnTo>
                  <a:lnTo>
                    <a:pt x="0" y="218136"/>
                  </a:lnTo>
                  <a:close/>
                </a:path>
              </a:pathLst>
            </a:custGeom>
            <a:solidFill>
              <a:srgbClr val="000000">
                <a:alpha val="0"/>
              </a:srgbClr>
            </a:solidFill>
            <a:ln w="38100" cap="sq">
              <a:solidFill>
                <a:srgbClr val="000000"/>
              </a:solidFill>
              <a:prstDash val="solid"/>
              <a:miter/>
            </a:ln>
          </p:spPr>
        </p:sp>
        <p:sp>
          <p:nvSpPr>
            <p:cNvPr name="TextBox 23" id="23"/>
            <p:cNvSpPr txBox="true"/>
            <p:nvPr/>
          </p:nvSpPr>
          <p:spPr>
            <a:xfrm>
              <a:off x="0" y="-47625"/>
              <a:ext cx="833263" cy="26576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1992710" y="8057011"/>
            <a:ext cx="4162602" cy="1201289"/>
            <a:chOff x="0" y="0"/>
            <a:chExt cx="1096323" cy="316389"/>
          </a:xfrm>
        </p:grpSpPr>
        <p:sp>
          <p:nvSpPr>
            <p:cNvPr name="Freeform 25" id="25"/>
            <p:cNvSpPr/>
            <p:nvPr/>
          </p:nvSpPr>
          <p:spPr>
            <a:xfrm flipH="false" flipV="false" rot="0">
              <a:off x="0" y="0"/>
              <a:ext cx="1096323" cy="316389"/>
            </a:xfrm>
            <a:custGeom>
              <a:avLst/>
              <a:gdLst/>
              <a:ahLst/>
              <a:cxnLst/>
              <a:rect r="r" b="b" t="t" l="l"/>
              <a:pathLst>
                <a:path h="316389" w="1096323">
                  <a:moveTo>
                    <a:pt x="0" y="0"/>
                  </a:moveTo>
                  <a:lnTo>
                    <a:pt x="1096323" y="0"/>
                  </a:lnTo>
                  <a:lnTo>
                    <a:pt x="1096323" y="316389"/>
                  </a:lnTo>
                  <a:lnTo>
                    <a:pt x="0" y="316389"/>
                  </a:lnTo>
                  <a:close/>
                </a:path>
              </a:pathLst>
            </a:custGeom>
            <a:solidFill>
              <a:srgbClr val="000000">
                <a:alpha val="0"/>
              </a:srgbClr>
            </a:solidFill>
            <a:ln w="38100" cap="sq">
              <a:solidFill>
                <a:srgbClr val="000000"/>
              </a:solidFill>
              <a:prstDash val="solid"/>
              <a:miter/>
            </a:ln>
          </p:spPr>
        </p:sp>
        <p:sp>
          <p:nvSpPr>
            <p:cNvPr name="TextBox 26" id="26"/>
            <p:cNvSpPr txBox="true"/>
            <p:nvPr/>
          </p:nvSpPr>
          <p:spPr>
            <a:xfrm>
              <a:off x="0" y="-47625"/>
              <a:ext cx="1096323" cy="364014"/>
            </a:xfrm>
            <a:prstGeom prst="rect">
              <a:avLst/>
            </a:prstGeom>
          </p:spPr>
          <p:txBody>
            <a:bodyPr anchor="ctr" rtlCol="false" tIns="50800" lIns="50800" bIns="50800" rIns="50800"/>
            <a:lstStyle/>
            <a:p>
              <a:pPr algn="ctr">
                <a:lnSpc>
                  <a:spcPts val="2659"/>
                </a:lnSpc>
              </a:pPr>
            </a:p>
          </p:txBody>
        </p:sp>
      </p:grpSp>
      <p:sp>
        <p:nvSpPr>
          <p:cNvPr name="AutoShape 27" id="27"/>
          <p:cNvSpPr/>
          <p:nvPr/>
        </p:nvSpPr>
        <p:spPr>
          <a:xfrm>
            <a:off x="13916418" y="5143500"/>
            <a:ext cx="0" cy="518006"/>
          </a:xfrm>
          <a:prstGeom prst="line">
            <a:avLst/>
          </a:prstGeom>
          <a:ln cap="flat" w="38100">
            <a:solidFill>
              <a:srgbClr val="000000"/>
            </a:solidFill>
            <a:prstDash val="solid"/>
            <a:headEnd type="none" len="sm" w="sm"/>
            <a:tailEnd type="arrow" len="sm" w="med"/>
          </a:ln>
        </p:spPr>
      </p:sp>
      <p:sp>
        <p:nvSpPr>
          <p:cNvPr name="AutoShape 28" id="28"/>
          <p:cNvSpPr/>
          <p:nvPr/>
        </p:nvSpPr>
        <p:spPr>
          <a:xfrm flipH="true">
            <a:off x="13916418" y="6489741"/>
            <a:ext cx="183016" cy="518006"/>
          </a:xfrm>
          <a:prstGeom prst="line">
            <a:avLst/>
          </a:prstGeom>
          <a:ln cap="flat" w="38100">
            <a:solidFill>
              <a:srgbClr val="000000"/>
            </a:solidFill>
            <a:prstDash val="solid"/>
            <a:headEnd type="none" len="sm" w="sm"/>
            <a:tailEnd type="arrow" len="sm" w="med"/>
          </a:ln>
        </p:spPr>
      </p:sp>
      <p:sp>
        <p:nvSpPr>
          <p:cNvPr name="AutoShape 29" id="29"/>
          <p:cNvSpPr/>
          <p:nvPr/>
        </p:nvSpPr>
        <p:spPr>
          <a:xfrm>
            <a:off x="13916418" y="7835982"/>
            <a:ext cx="0" cy="304503"/>
          </a:xfrm>
          <a:prstGeom prst="line">
            <a:avLst/>
          </a:prstGeom>
          <a:ln cap="flat" w="38100">
            <a:solidFill>
              <a:srgbClr val="000000"/>
            </a:solidFill>
            <a:prstDash val="solid"/>
            <a:headEnd type="none" len="sm" w="sm"/>
            <a:tailEnd type="arrow" len="sm" w="med"/>
          </a:ln>
        </p:spPr>
      </p:sp>
      <p:sp>
        <p:nvSpPr>
          <p:cNvPr name="TextBox 30" id="30"/>
          <p:cNvSpPr txBox="true"/>
          <p:nvPr/>
        </p:nvSpPr>
        <p:spPr>
          <a:xfrm rot="0">
            <a:off x="12196316" y="1440224"/>
            <a:ext cx="3302000" cy="1095375"/>
          </a:xfrm>
          <a:prstGeom prst="rect">
            <a:avLst/>
          </a:prstGeom>
        </p:spPr>
        <p:txBody>
          <a:bodyPr anchor="t" rtlCol="false" tIns="0" lIns="0" bIns="0" rIns="0">
            <a:spAutoFit/>
          </a:bodyPr>
          <a:lstStyle/>
          <a:p>
            <a:pPr algn="ctr">
              <a:lnSpc>
                <a:spcPts val="8400"/>
              </a:lnSpc>
              <a:spcBef>
                <a:spcPct val="0"/>
              </a:spcBef>
            </a:pPr>
            <a:r>
              <a:rPr lang="en-US" b="true" sz="5000">
                <a:solidFill>
                  <a:srgbClr val="000000"/>
                </a:solidFill>
                <a:latin typeface="Arial Bold"/>
                <a:ea typeface="Arial Bold"/>
                <a:cs typeface="Arial Bold"/>
                <a:sym typeface="Arial Bold"/>
              </a:rPr>
              <a:t>Flow Chart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28150" y="207926"/>
            <a:ext cx="1957248" cy="1957248"/>
            <a:chOff x="0" y="0"/>
            <a:chExt cx="2609664" cy="2609664"/>
          </a:xfrm>
        </p:grpSpPr>
        <p:sp>
          <p:nvSpPr>
            <p:cNvPr name="Freeform 3" id="3"/>
            <p:cNvSpPr/>
            <p:nvPr/>
          </p:nvSpPr>
          <p:spPr>
            <a:xfrm flipH="false" flipV="false" rot="0">
              <a:off x="0" y="0"/>
              <a:ext cx="2609723" cy="2609723"/>
            </a:xfrm>
            <a:custGeom>
              <a:avLst/>
              <a:gdLst/>
              <a:ahLst/>
              <a:cxnLst/>
              <a:rect r="r" b="b" t="t" l="l"/>
              <a:pathLst>
                <a:path h="2609723" w="2609723">
                  <a:moveTo>
                    <a:pt x="0" y="0"/>
                  </a:moveTo>
                  <a:lnTo>
                    <a:pt x="2609723" y="0"/>
                  </a:lnTo>
                  <a:lnTo>
                    <a:pt x="2609723" y="2609723"/>
                  </a:lnTo>
                  <a:lnTo>
                    <a:pt x="0" y="2609723"/>
                  </a:lnTo>
                  <a:lnTo>
                    <a:pt x="0" y="0"/>
                  </a:lnTo>
                  <a:close/>
                </a:path>
              </a:pathLst>
            </a:custGeom>
            <a:blipFill>
              <a:blip r:embed="rId3"/>
              <a:stretch>
                <a:fillRect l="0" t="0" r="2" b="2"/>
              </a:stretch>
            </a:blipFill>
          </p:spPr>
        </p:sp>
      </p:grpSp>
      <p:sp>
        <p:nvSpPr>
          <p:cNvPr name="TextBox 4" id="4"/>
          <p:cNvSpPr txBox="true"/>
          <p:nvPr/>
        </p:nvSpPr>
        <p:spPr>
          <a:xfrm rot="0">
            <a:off x="3959400" y="477800"/>
            <a:ext cx="100806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Feasibility and Market Use</a:t>
            </a:r>
          </a:p>
        </p:txBody>
      </p:sp>
      <p:grpSp>
        <p:nvGrpSpPr>
          <p:cNvPr name="Group 5" id="5"/>
          <p:cNvGrpSpPr/>
          <p:nvPr/>
        </p:nvGrpSpPr>
        <p:grpSpPr>
          <a:xfrm rot="0">
            <a:off x="7118225" y="9511325"/>
            <a:ext cx="1633050" cy="686250"/>
            <a:chOff x="0" y="0"/>
            <a:chExt cx="2177400" cy="915000"/>
          </a:xfrm>
        </p:grpSpPr>
        <p:sp>
          <p:nvSpPr>
            <p:cNvPr name="Freeform 6" id="6"/>
            <p:cNvSpPr/>
            <p:nvPr/>
          </p:nvSpPr>
          <p:spPr>
            <a:xfrm flipH="false" flipV="false" rot="0">
              <a:off x="12700" y="12700"/>
              <a:ext cx="2152015" cy="889635"/>
            </a:xfrm>
            <a:custGeom>
              <a:avLst/>
              <a:gdLst/>
              <a:ahLst/>
              <a:cxnLst/>
              <a:rect r="r" b="b" t="t" l="l"/>
              <a:pathLst>
                <a:path h="889635" w="2152015">
                  <a:moveTo>
                    <a:pt x="0" y="0"/>
                  </a:moveTo>
                  <a:lnTo>
                    <a:pt x="2152015" y="0"/>
                  </a:lnTo>
                  <a:lnTo>
                    <a:pt x="2152015" y="889635"/>
                  </a:lnTo>
                  <a:lnTo>
                    <a:pt x="0" y="889635"/>
                  </a:lnTo>
                  <a:close/>
                </a:path>
              </a:pathLst>
            </a:custGeom>
            <a:solidFill>
              <a:srgbClr val="FFFFFF"/>
            </a:solidFill>
          </p:spPr>
        </p:sp>
        <p:sp>
          <p:nvSpPr>
            <p:cNvPr name="Freeform 7" id="7"/>
            <p:cNvSpPr/>
            <p:nvPr/>
          </p:nvSpPr>
          <p:spPr>
            <a:xfrm flipH="false" flipV="false" rot="0">
              <a:off x="0" y="0"/>
              <a:ext cx="2177415" cy="915035"/>
            </a:xfrm>
            <a:custGeom>
              <a:avLst/>
              <a:gdLst/>
              <a:ahLst/>
              <a:cxnLst/>
              <a:rect r="r" b="b" t="t" l="l"/>
              <a:pathLst>
                <a:path h="915035" w="2177415">
                  <a:moveTo>
                    <a:pt x="12700" y="0"/>
                  </a:moveTo>
                  <a:lnTo>
                    <a:pt x="2164715" y="0"/>
                  </a:lnTo>
                  <a:cubicBezTo>
                    <a:pt x="2171700" y="0"/>
                    <a:pt x="2177415" y="5715"/>
                    <a:pt x="2177415" y="12700"/>
                  </a:cubicBezTo>
                  <a:lnTo>
                    <a:pt x="2177415" y="902335"/>
                  </a:lnTo>
                  <a:cubicBezTo>
                    <a:pt x="2177415" y="909320"/>
                    <a:pt x="2171700" y="915035"/>
                    <a:pt x="2164715" y="915035"/>
                  </a:cubicBezTo>
                  <a:lnTo>
                    <a:pt x="12700" y="915035"/>
                  </a:lnTo>
                  <a:cubicBezTo>
                    <a:pt x="5715" y="915035"/>
                    <a:pt x="0" y="909320"/>
                    <a:pt x="0" y="902335"/>
                  </a:cubicBezTo>
                  <a:lnTo>
                    <a:pt x="0" y="12700"/>
                  </a:lnTo>
                  <a:cubicBezTo>
                    <a:pt x="0" y="5715"/>
                    <a:pt x="5715" y="0"/>
                    <a:pt x="12700" y="0"/>
                  </a:cubicBezTo>
                  <a:moveTo>
                    <a:pt x="12700" y="25400"/>
                  </a:moveTo>
                  <a:lnTo>
                    <a:pt x="12700" y="12700"/>
                  </a:lnTo>
                  <a:lnTo>
                    <a:pt x="25400" y="12700"/>
                  </a:lnTo>
                  <a:lnTo>
                    <a:pt x="25400" y="902335"/>
                  </a:lnTo>
                  <a:lnTo>
                    <a:pt x="12700" y="902335"/>
                  </a:lnTo>
                  <a:lnTo>
                    <a:pt x="12700" y="889635"/>
                  </a:lnTo>
                  <a:lnTo>
                    <a:pt x="2164715" y="889635"/>
                  </a:lnTo>
                  <a:lnTo>
                    <a:pt x="2164715" y="902335"/>
                  </a:lnTo>
                  <a:lnTo>
                    <a:pt x="2152015" y="902335"/>
                  </a:lnTo>
                  <a:lnTo>
                    <a:pt x="2152015" y="12700"/>
                  </a:lnTo>
                  <a:lnTo>
                    <a:pt x="2164715" y="12700"/>
                  </a:lnTo>
                  <a:lnTo>
                    <a:pt x="2164715" y="25400"/>
                  </a:lnTo>
                  <a:lnTo>
                    <a:pt x="12700" y="25400"/>
                  </a:lnTo>
                  <a:close/>
                </a:path>
              </a:pathLst>
            </a:custGeom>
            <a:solidFill>
              <a:srgbClr val="FFFFFF"/>
            </a:solidFill>
          </p:spPr>
        </p:sp>
      </p:grpSp>
      <p:grpSp>
        <p:nvGrpSpPr>
          <p:cNvPr name="Group 8" id="8"/>
          <p:cNvGrpSpPr/>
          <p:nvPr/>
        </p:nvGrpSpPr>
        <p:grpSpPr>
          <a:xfrm rot="0">
            <a:off x="16608925" y="9661975"/>
            <a:ext cx="1331850" cy="428250"/>
            <a:chOff x="0" y="0"/>
            <a:chExt cx="1775800" cy="571000"/>
          </a:xfrm>
        </p:grpSpPr>
        <p:sp>
          <p:nvSpPr>
            <p:cNvPr name="Freeform 9" id="9"/>
            <p:cNvSpPr/>
            <p:nvPr/>
          </p:nvSpPr>
          <p:spPr>
            <a:xfrm flipH="false" flipV="false" rot="0">
              <a:off x="12700" y="12700"/>
              <a:ext cx="1750441" cy="545592"/>
            </a:xfrm>
            <a:custGeom>
              <a:avLst/>
              <a:gdLst/>
              <a:ahLst/>
              <a:cxnLst/>
              <a:rect r="r" b="b" t="t" l="l"/>
              <a:pathLst>
                <a:path h="545592" w="1750441">
                  <a:moveTo>
                    <a:pt x="0" y="0"/>
                  </a:moveTo>
                  <a:lnTo>
                    <a:pt x="1750441" y="0"/>
                  </a:lnTo>
                  <a:lnTo>
                    <a:pt x="1750441" y="545592"/>
                  </a:lnTo>
                  <a:lnTo>
                    <a:pt x="0" y="545592"/>
                  </a:lnTo>
                  <a:close/>
                </a:path>
              </a:pathLst>
            </a:custGeom>
            <a:solidFill>
              <a:srgbClr val="FFFFFF"/>
            </a:solidFill>
          </p:spPr>
        </p:sp>
        <p:sp>
          <p:nvSpPr>
            <p:cNvPr name="Freeform 10" id="10"/>
            <p:cNvSpPr/>
            <p:nvPr/>
          </p:nvSpPr>
          <p:spPr>
            <a:xfrm flipH="false" flipV="false" rot="0">
              <a:off x="0" y="0"/>
              <a:ext cx="1775841" cy="570992"/>
            </a:xfrm>
            <a:custGeom>
              <a:avLst/>
              <a:gdLst/>
              <a:ahLst/>
              <a:cxnLst/>
              <a:rect r="r" b="b" t="t" l="l"/>
              <a:pathLst>
                <a:path h="570992" w="1775841">
                  <a:moveTo>
                    <a:pt x="12700" y="0"/>
                  </a:moveTo>
                  <a:lnTo>
                    <a:pt x="1763141" y="0"/>
                  </a:lnTo>
                  <a:cubicBezTo>
                    <a:pt x="1770126" y="0"/>
                    <a:pt x="1775841" y="5715"/>
                    <a:pt x="1775841" y="12700"/>
                  </a:cubicBezTo>
                  <a:lnTo>
                    <a:pt x="1775841" y="558292"/>
                  </a:lnTo>
                  <a:cubicBezTo>
                    <a:pt x="1775841" y="565277"/>
                    <a:pt x="1770126" y="570992"/>
                    <a:pt x="1763141" y="570992"/>
                  </a:cubicBezTo>
                  <a:lnTo>
                    <a:pt x="12700" y="570992"/>
                  </a:lnTo>
                  <a:cubicBezTo>
                    <a:pt x="5715" y="570992"/>
                    <a:pt x="0" y="565277"/>
                    <a:pt x="0" y="558292"/>
                  </a:cubicBezTo>
                  <a:lnTo>
                    <a:pt x="0" y="12700"/>
                  </a:lnTo>
                  <a:cubicBezTo>
                    <a:pt x="0" y="5715"/>
                    <a:pt x="5715" y="0"/>
                    <a:pt x="12700" y="0"/>
                  </a:cubicBezTo>
                  <a:moveTo>
                    <a:pt x="12700" y="25400"/>
                  </a:moveTo>
                  <a:lnTo>
                    <a:pt x="12700" y="12700"/>
                  </a:lnTo>
                  <a:lnTo>
                    <a:pt x="25400" y="12700"/>
                  </a:lnTo>
                  <a:lnTo>
                    <a:pt x="25400" y="558292"/>
                  </a:lnTo>
                  <a:lnTo>
                    <a:pt x="12700" y="558292"/>
                  </a:lnTo>
                  <a:lnTo>
                    <a:pt x="12700" y="545592"/>
                  </a:lnTo>
                  <a:lnTo>
                    <a:pt x="1763141" y="545592"/>
                  </a:lnTo>
                  <a:lnTo>
                    <a:pt x="1763141" y="558292"/>
                  </a:lnTo>
                  <a:lnTo>
                    <a:pt x="1750441" y="558292"/>
                  </a:lnTo>
                  <a:lnTo>
                    <a:pt x="1750441" y="12700"/>
                  </a:lnTo>
                  <a:lnTo>
                    <a:pt x="1763141" y="12700"/>
                  </a:lnTo>
                  <a:lnTo>
                    <a:pt x="1763141" y="25400"/>
                  </a:lnTo>
                  <a:lnTo>
                    <a:pt x="12700" y="25400"/>
                  </a:lnTo>
                  <a:close/>
                </a:path>
              </a:pathLst>
            </a:custGeom>
            <a:solidFill>
              <a:srgbClr val="FFFFFF"/>
            </a:solidFill>
          </p:spPr>
        </p:sp>
      </p:grpSp>
      <p:sp>
        <p:nvSpPr>
          <p:cNvPr name="TextBox 11" id="11"/>
          <p:cNvSpPr txBox="true"/>
          <p:nvPr/>
        </p:nvSpPr>
        <p:spPr>
          <a:xfrm rot="0">
            <a:off x="1028700" y="2264560"/>
            <a:ext cx="10289636" cy="7764027"/>
          </a:xfrm>
          <a:prstGeom prst="rect">
            <a:avLst/>
          </a:prstGeom>
        </p:spPr>
        <p:txBody>
          <a:bodyPr anchor="t" rtlCol="false" tIns="0" lIns="0" bIns="0" rIns="0">
            <a:spAutoFit/>
          </a:bodyPr>
          <a:lstStyle/>
          <a:p>
            <a:pPr algn="just">
              <a:lnSpc>
                <a:spcPts val="5040"/>
              </a:lnSpc>
              <a:spcBef>
                <a:spcPct val="0"/>
              </a:spcBef>
            </a:pPr>
            <a:r>
              <a:rPr lang="en-US" b="true" sz="3000">
                <a:solidFill>
                  <a:srgbClr val="000000"/>
                </a:solidFill>
                <a:latin typeface="Arial Bold"/>
                <a:ea typeface="Arial Bold"/>
                <a:cs typeface="Arial Bold"/>
                <a:sym typeface="Arial Bold"/>
              </a:rPr>
              <a:t>Feasibility</a:t>
            </a:r>
          </a:p>
          <a:p>
            <a:pPr algn="just">
              <a:lnSpc>
                <a:spcPts val="1176"/>
              </a:lnSpc>
              <a:spcBef>
                <a:spcPct val="0"/>
              </a:spcBef>
            </a:pPr>
          </a:p>
          <a:p>
            <a:pPr algn="just">
              <a:lnSpc>
                <a:spcPts val="4032"/>
              </a:lnSpc>
              <a:spcBef>
                <a:spcPct val="0"/>
              </a:spcBef>
            </a:pPr>
            <a:r>
              <a:rPr lang="en-US" sz="2400">
                <a:solidFill>
                  <a:srgbClr val="000000"/>
                </a:solidFill>
                <a:latin typeface="Arial"/>
                <a:ea typeface="Arial"/>
                <a:cs typeface="Arial"/>
                <a:sym typeface="Arial"/>
              </a:rPr>
              <a:t>1.Voice Recognition: Mature APIs available (Google STT, Whisper)</a:t>
            </a:r>
          </a:p>
          <a:p>
            <a:pPr algn="just">
              <a:lnSpc>
                <a:spcPts val="4032"/>
              </a:lnSpc>
              <a:spcBef>
                <a:spcPct val="0"/>
              </a:spcBef>
            </a:pPr>
            <a:r>
              <a:rPr lang="en-US" sz="2400">
                <a:solidFill>
                  <a:srgbClr val="000000"/>
                </a:solidFill>
                <a:latin typeface="Arial"/>
                <a:ea typeface="Arial"/>
                <a:cs typeface="Arial"/>
                <a:sym typeface="Arial"/>
              </a:rPr>
              <a:t>2. NLP Expense Classification: Achievable using open-source models</a:t>
            </a:r>
          </a:p>
          <a:p>
            <a:pPr algn="just">
              <a:lnSpc>
                <a:spcPts val="4032"/>
              </a:lnSpc>
              <a:spcBef>
                <a:spcPct val="0"/>
              </a:spcBef>
            </a:pPr>
            <a:r>
              <a:rPr lang="en-US" sz="2400">
                <a:solidFill>
                  <a:srgbClr val="000000"/>
                </a:solidFill>
                <a:latin typeface="Arial"/>
                <a:ea typeface="Arial"/>
                <a:cs typeface="Arial"/>
                <a:sym typeface="Arial"/>
              </a:rPr>
              <a:t>3.⁠ ⁠Mobile App Development: Easily buildable with Flutter/React Native</a:t>
            </a:r>
          </a:p>
          <a:p>
            <a:pPr algn="just">
              <a:lnSpc>
                <a:spcPts val="4032"/>
              </a:lnSpc>
              <a:spcBef>
                <a:spcPct val="0"/>
              </a:spcBef>
            </a:pPr>
            <a:r>
              <a:rPr lang="en-US" sz="2400">
                <a:solidFill>
                  <a:srgbClr val="000000"/>
                </a:solidFill>
                <a:latin typeface="Arial"/>
                <a:ea typeface="Arial"/>
                <a:cs typeface="Arial"/>
                <a:sym typeface="Arial"/>
              </a:rPr>
              <a:t>4.Works on standard smartphones (mid-range Android/iOS)</a:t>
            </a:r>
          </a:p>
          <a:p>
            <a:pPr algn="just">
              <a:lnSpc>
                <a:spcPts val="1680"/>
              </a:lnSpc>
              <a:spcBef>
                <a:spcPct val="0"/>
              </a:spcBef>
            </a:pPr>
          </a:p>
          <a:p>
            <a:pPr algn="just">
              <a:lnSpc>
                <a:spcPts val="5040"/>
              </a:lnSpc>
              <a:spcBef>
                <a:spcPct val="0"/>
              </a:spcBef>
            </a:pPr>
            <a:r>
              <a:rPr lang="en-US" b="true" sz="3000">
                <a:solidFill>
                  <a:srgbClr val="000000"/>
                </a:solidFill>
                <a:latin typeface="Arial Bold"/>
                <a:ea typeface="Arial Bold"/>
                <a:cs typeface="Arial Bold"/>
                <a:sym typeface="Arial Bold"/>
              </a:rPr>
              <a:t>Market Usage</a:t>
            </a:r>
          </a:p>
          <a:p>
            <a:pPr algn="just">
              <a:lnSpc>
                <a:spcPts val="1176"/>
              </a:lnSpc>
              <a:spcBef>
                <a:spcPct val="0"/>
              </a:spcBef>
            </a:pPr>
          </a:p>
          <a:p>
            <a:pPr algn="just">
              <a:lnSpc>
                <a:spcPts val="4032"/>
              </a:lnSpc>
              <a:spcBef>
                <a:spcPct val="0"/>
              </a:spcBef>
            </a:pPr>
            <a:r>
              <a:rPr lang="en-US" sz="2400">
                <a:solidFill>
                  <a:srgbClr val="000000"/>
                </a:solidFill>
                <a:latin typeface="Arial"/>
                <a:ea typeface="Arial"/>
                <a:cs typeface="Arial"/>
                <a:sym typeface="Arial"/>
              </a:rPr>
              <a:t>1.Visually impaired users who cannot easily read or write their expenses</a:t>
            </a:r>
          </a:p>
          <a:p>
            <a:pPr algn="just">
              <a:lnSpc>
                <a:spcPts val="4032"/>
              </a:lnSpc>
              <a:spcBef>
                <a:spcPct val="0"/>
              </a:spcBef>
            </a:pPr>
            <a:r>
              <a:rPr lang="en-US" sz="2400">
                <a:solidFill>
                  <a:srgbClr val="000000"/>
                </a:solidFill>
                <a:latin typeface="Arial"/>
                <a:ea typeface="Arial"/>
                <a:cs typeface="Arial"/>
                <a:sym typeface="Arial"/>
              </a:rPr>
              <a:t>2.Individuals with memory or cognitive challenges such as early dementia, ADHD, or autism, who often forget where and how they spent money</a:t>
            </a:r>
          </a:p>
          <a:p>
            <a:pPr algn="just">
              <a:lnSpc>
                <a:spcPts val="4032"/>
              </a:lnSpc>
              <a:spcBef>
                <a:spcPct val="0"/>
              </a:spcBef>
            </a:pPr>
            <a:r>
              <a:rPr lang="en-US" sz="2400">
                <a:solidFill>
                  <a:srgbClr val="000000"/>
                </a:solidFill>
                <a:latin typeface="Arial"/>
                <a:ea typeface="Arial"/>
                <a:cs typeface="Arial"/>
                <a:sym typeface="Arial"/>
              </a:rPr>
              <a:t>3.Elderly people who may struggle with typing or navigating modern mobile interfaces</a:t>
            </a:r>
          </a:p>
          <a:p>
            <a:pPr algn="just">
              <a:lnSpc>
                <a:spcPts val="4032"/>
              </a:lnSpc>
              <a:spcBef>
                <a:spcPct val="0"/>
              </a:spcBef>
            </a:pPr>
            <a:r>
              <a:rPr lang="en-US" sz="2400">
                <a:solidFill>
                  <a:srgbClr val="000000"/>
                </a:solidFill>
                <a:latin typeface="Arial"/>
                <a:ea typeface="Arial"/>
                <a:cs typeface="Arial"/>
                <a:sym typeface="Arial"/>
              </a:rPr>
              <a:t>4.Even fully-abled users who prefer quick, voice-based interaction over typing or manual entry</a:t>
            </a:r>
          </a:p>
          <a:p>
            <a:pPr algn="just">
              <a:lnSpc>
                <a:spcPts val="2352"/>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28150" y="207926"/>
            <a:ext cx="1957248" cy="1957248"/>
            <a:chOff x="0" y="0"/>
            <a:chExt cx="2609664" cy="2609664"/>
          </a:xfrm>
        </p:grpSpPr>
        <p:sp>
          <p:nvSpPr>
            <p:cNvPr name="Freeform 3" id="3"/>
            <p:cNvSpPr/>
            <p:nvPr/>
          </p:nvSpPr>
          <p:spPr>
            <a:xfrm flipH="false" flipV="false" rot="0">
              <a:off x="0" y="0"/>
              <a:ext cx="2609723" cy="2609723"/>
            </a:xfrm>
            <a:custGeom>
              <a:avLst/>
              <a:gdLst/>
              <a:ahLst/>
              <a:cxnLst/>
              <a:rect r="r" b="b" t="t" l="l"/>
              <a:pathLst>
                <a:path h="2609723" w="2609723">
                  <a:moveTo>
                    <a:pt x="0" y="0"/>
                  </a:moveTo>
                  <a:lnTo>
                    <a:pt x="2609723" y="0"/>
                  </a:lnTo>
                  <a:lnTo>
                    <a:pt x="2609723" y="2609723"/>
                  </a:lnTo>
                  <a:lnTo>
                    <a:pt x="0" y="2609723"/>
                  </a:lnTo>
                  <a:lnTo>
                    <a:pt x="0" y="0"/>
                  </a:lnTo>
                  <a:close/>
                </a:path>
              </a:pathLst>
            </a:custGeom>
            <a:blipFill>
              <a:blip r:embed="rId3"/>
              <a:stretch>
                <a:fillRect l="0" t="0" r="2" b="2"/>
              </a:stretch>
            </a:blipFill>
          </p:spPr>
        </p:sp>
      </p:grpSp>
      <p:sp>
        <p:nvSpPr>
          <p:cNvPr name="TextBox 4" id="4"/>
          <p:cNvSpPr txBox="true"/>
          <p:nvPr/>
        </p:nvSpPr>
        <p:spPr>
          <a:xfrm rot="0">
            <a:off x="4083277" y="477800"/>
            <a:ext cx="10080600" cy="1093650"/>
          </a:xfrm>
          <a:prstGeom prst="rect">
            <a:avLst/>
          </a:prstGeom>
        </p:spPr>
        <p:txBody>
          <a:bodyPr anchor="t" rtlCol="false" tIns="0" lIns="0" bIns="0" rIns="0">
            <a:spAutoFit/>
          </a:bodyPr>
          <a:lstStyle/>
          <a:p>
            <a:pPr algn="ctr">
              <a:lnSpc>
                <a:spcPts val="8399"/>
              </a:lnSpc>
            </a:pPr>
            <a:r>
              <a:rPr lang="en-US" b="true" sz="4999">
                <a:solidFill>
                  <a:srgbClr val="000000"/>
                </a:solidFill>
                <a:latin typeface="Arial Bold"/>
                <a:ea typeface="Arial Bold"/>
                <a:cs typeface="Arial Bold"/>
                <a:sym typeface="Arial Bold"/>
              </a:rPr>
              <a:t>Conclusion</a:t>
            </a:r>
          </a:p>
        </p:txBody>
      </p:sp>
      <p:sp>
        <p:nvSpPr>
          <p:cNvPr name="TextBox 5" id="5"/>
          <p:cNvSpPr txBox="true"/>
          <p:nvPr/>
        </p:nvSpPr>
        <p:spPr>
          <a:xfrm rot="0">
            <a:off x="828150" y="2603373"/>
            <a:ext cx="16590854" cy="4880230"/>
          </a:xfrm>
          <a:prstGeom prst="rect">
            <a:avLst/>
          </a:prstGeom>
        </p:spPr>
        <p:txBody>
          <a:bodyPr anchor="t" rtlCol="false" tIns="0" lIns="0" bIns="0" rIns="0">
            <a:spAutoFit/>
          </a:bodyPr>
          <a:lstStyle/>
          <a:p>
            <a:pPr algn="just">
              <a:lnSpc>
                <a:spcPts val="5039"/>
              </a:lnSpc>
              <a:spcBef>
                <a:spcPct val="0"/>
              </a:spcBef>
            </a:pPr>
            <a:r>
              <a:rPr lang="en-US" b="true" sz="2999">
                <a:solidFill>
                  <a:srgbClr val="000000"/>
                </a:solidFill>
                <a:latin typeface="Arial Bold"/>
                <a:ea typeface="Arial Bold"/>
                <a:cs typeface="Arial Bold"/>
                <a:sym typeface="Arial Bold"/>
              </a:rPr>
              <a:t>Smart P</a:t>
            </a:r>
            <a:r>
              <a:rPr lang="en-US" b="true" sz="2999">
                <a:solidFill>
                  <a:srgbClr val="000000"/>
                </a:solidFill>
                <a:latin typeface="Arial Bold"/>
                <a:ea typeface="Arial Bold"/>
                <a:cs typeface="Arial Bold"/>
                <a:sym typeface="Arial Bold"/>
              </a:rPr>
              <a:t>ocket is more than just a finance app — it is a step toward digital dignity and independence.</a:t>
            </a:r>
          </a:p>
          <a:p>
            <a:pPr algn="just">
              <a:lnSpc>
                <a:spcPts val="2352"/>
              </a:lnSpc>
              <a:spcBef>
                <a:spcPct val="0"/>
              </a:spcBef>
            </a:pPr>
          </a:p>
          <a:p>
            <a:pPr algn="just" marL="474979" indent="-237490" lvl="1">
              <a:lnSpc>
                <a:spcPts val="3695"/>
              </a:lnSpc>
              <a:buFont typeface="Arial"/>
              <a:buChar char="•"/>
            </a:pPr>
            <a:r>
              <a:rPr lang="en-US" b="true" sz="2199">
                <a:solidFill>
                  <a:srgbClr val="000000"/>
                </a:solidFill>
                <a:latin typeface="Arial Bold"/>
                <a:ea typeface="Arial Bold"/>
                <a:cs typeface="Arial Bold"/>
                <a:sym typeface="Arial Bold"/>
              </a:rPr>
              <a:t> </a:t>
            </a:r>
            <a:r>
              <a:rPr lang="en-US" sz="2199">
                <a:solidFill>
                  <a:srgbClr val="000000"/>
                </a:solidFill>
                <a:latin typeface="Arial"/>
                <a:ea typeface="Arial"/>
                <a:cs typeface="Arial"/>
                <a:sym typeface="Arial"/>
              </a:rPr>
              <a:t>By enabling simple voice-based interaction, it empowers differently-abled individuals to manage daily expenses independently, reducing reliance on others and building confidence.</a:t>
            </a:r>
          </a:p>
          <a:p>
            <a:pPr algn="just" marL="474979" indent="-237490" lvl="1">
              <a:lnSpc>
                <a:spcPts val="3695"/>
              </a:lnSpc>
              <a:buFont typeface="Arial"/>
              <a:buChar char="•"/>
            </a:pPr>
            <a:r>
              <a:rPr lang="en-US" sz="2199">
                <a:solidFill>
                  <a:srgbClr val="000000"/>
                </a:solidFill>
                <a:latin typeface="Arial"/>
                <a:ea typeface="Arial"/>
                <a:cs typeface="Arial"/>
                <a:sym typeface="Arial"/>
              </a:rPr>
              <a:t>Looking ahead, Smart Pocket envisions a more inclusive and intelligent experience — with features like automatic UPI/SMS expense tracking, caregiver access for shared support, and multilingual voice input to serve users across regions and languages.</a:t>
            </a:r>
          </a:p>
          <a:p>
            <a:pPr algn="just" marL="474979" indent="-237490" lvl="1">
              <a:lnSpc>
                <a:spcPts val="3695"/>
              </a:lnSpc>
              <a:buFont typeface="Arial"/>
              <a:buChar char="•"/>
            </a:pPr>
            <a:r>
              <a:rPr lang="en-US" sz="2199">
                <a:solidFill>
                  <a:srgbClr val="000000"/>
                </a:solidFill>
                <a:latin typeface="Arial"/>
                <a:ea typeface="Arial"/>
                <a:cs typeface="Arial"/>
                <a:sym typeface="Arial"/>
              </a:rPr>
              <a:t>In a rapidly digitizing world, this is not just about building new tools — it’s about ensuring those tools work for everyone, regardless of ability.</a:t>
            </a:r>
          </a:p>
          <a:p>
            <a:pPr algn="just" marL="474979" indent="-237490" lvl="1">
              <a:lnSpc>
                <a:spcPts val="3695"/>
              </a:lnSpc>
              <a:buFont typeface="Arial"/>
              <a:buChar char="•"/>
            </a:pPr>
            <a:r>
              <a:rPr lang="en-US" sz="2199">
                <a:solidFill>
                  <a:srgbClr val="000000"/>
                </a:solidFill>
                <a:latin typeface="Arial"/>
                <a:ea typeface="Arial"/>
                <a:cs typeface="Arial"/>
                <a:sym typeface="Arial"/>
              </a:rPr>
              <a:t> Smart Pocket represents a shift toward technology that is not only smart, but human-centered.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DAGsUeXJVbQ</dc:identifier>
  <dcterms:modified xsi:type="dcterms:W3CDTF">2011-08-01T06:04:30Z</dcterms:modified>
  <cp:revision>1</cp:revision>
  <dc:title>AlgoVerse PPT.pptx</dc:title>
</cp:coreProperties>
</file>
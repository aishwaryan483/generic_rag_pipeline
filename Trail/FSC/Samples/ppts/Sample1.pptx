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Garamond" panose="02020404030301010803" pitchFamily="18" charset="0"/>
      <p:regular r:id="rId10"/>
      <p:bold r:id="rId11"/>
      <p:italic r:id="rId12"/>
      <p:boldItalic r:id="rId13"/>
    </p:embeddedFont>
    <p:embeddedFont>
      <p:font typeface="Oswald" panose="00000500000000000000" pitchFamily="2" charset="0"/>
      <p:regular r:id="rId14"/>
      <p:bold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9" roundtripDataSignature="AMtx7mi3+JTMx1k0GtBqEmqGSI1xANa4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2" name="Google Shape;7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395686b23_0_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395686b23_0_9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1395686b23_0_9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6" name="Google Shape;10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8" name="Google Shape;12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1395686b23_0_906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/>
          </a:p>
        </p:txBody>
      </p:sp>
      <p:sp>
        <p:nvSpPr>
          <p:cNvPr id="15" name="Google Shape;15;g31395686b23_0_906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/>
          </a:p>
        </p:txBody>
      </p:sp>
      <p:sp>
        <p:nvSpPr>
          <p:cNvPr id="16" name="Google Shape;16;g31395686b23_0_90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1395686b23_0_910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31395686b23_0_91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31395686b23_0_91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31395686b23_0_91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g31395686b23_0_91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31395686b23_0_9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1395686b23_0_91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7" name="Google Shape;27;g31395686b23_0_917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8" name="Google Shape;28;g31395686b23_0_91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1395686b23_0_92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1395686b23_0_92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1395686b23_0_925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34" name="Google Shape;34;g31395686b23_0_925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g31395686b23_0_92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1395686b23_0_929"/>
          <p:cNvSpPr txBox="1">
            <a:spLocks noGrp="1"/>
          </p:cNvSpPr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>
            <a:endParaRPr/>
          </a:p>
        </p:txBody>
      </p:sp>
      <p:sp>
        <p:nvSpPr>
          <p:cNvPr id="38" name="Google Shape;38;g31395686b23_0_929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1395686b23_0_93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g31395686b23_0_932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>
            <a:endParaRPr/>
          </a:p>
        </p:txBody>
      </p:sp>
      <p:sp>
        <p:nvSpPr>
          <p:cNvPr id="42" name="Google Shape;42;g31395686b23_0_932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43" name="Google Shape;43;g31395686b23_0_932"/>
          <p:cNvSpPr txBox="1">
            <a:spLocks noGrp="1"/>
          </p:cNvSpPr>
          <p:nvPr>
            <p:ph type="body" idx="2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31395686b23_0_93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1395686b23_0_938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g31395686b23_0_93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1395686b23_0_941"/>
          <p:cNvSpPr txBox="1">
            <a:spLocks noGrp="1"/>
          </p:cNvSpPr>
          <p:nvPr>
            <p:ph type="title" hasCustomPrompt="1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50" name="Google Shape;50;g31395686b23_0_941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marL="1371600" lvl="2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marL="1828800" lvl="3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marL="2286000" lvl="4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marL="2743200" lvl="5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marL="3200400" lvl="6" indent="-34925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marL="3657600" lvl="7" indent="-34925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marL="4114800" lvl="8" indent="-34925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g31395686b23_0_94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1395686b23_0_94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1395686b23_0_947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31395686b23_0_947"/>
          <p:cNvSpPr txBox="1">
            <a:spLocks noGrp="1"/>
          </p:cNvSpPr>
          <p:nvPr>
            <p:ph type="body" idx="1"/>
          </p:nvPr>
        </p:nvSpPr>
        <p:spPr>
          <a:xfrm>
            <a:off x="609600" y="1095375"/>
            <a:ext cx="10972800" cy="50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g31395686b23_0_94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g31395686b23_0_94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1395686b23_0_94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1395686b23_0_902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31395686b23_0_902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1395686b23_0_90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>
            <a:spLocks noGrp="1"/>
          </p:cNvSpPr>
          <p:nvPr>
            <p:ph type="title"/>
          </p:nvPr>
        </p:nvSpPr>
        <p:spPr>
          <a:xfrm>
            <a:off x="514675" y="64485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latin typeface="Garamond"/>
                <a:ea typeface="Garamond"/>
                <a:cs typeface="Garamond"/>
                <a:sym typeface="Garamond"/>
              </a:rPr>
              <a:t>INNOVASIA 2K24</a:t>
            </a:r>
            <a:endParaRPr/>
          </a:p>
        </p:txBody>
      </p:sp>
      <p:sp>
        <p:nvSpPr>
          <p:cNvPr id="65" name="Google Shape;65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66" name="Google Shape;66;p1"/>
          <p:cNvSpPr txBox="1"/>
          <p:nvPr/>
        </p:nvSpPr>
        <p:spPr>
          <a:xfrm>
            <a:off x="4621234" y="1418540"/>
            <a:ext cx="2759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"/>
          <p:cNvSpPr txBox="1"/>
          <p:nvPr/>
        </p:nvSpPr>
        <p:spPr>
          <a:xfrm>
            <a:off x="1294760" y="1787846"/>
            <a:ext cx="5924700" cy="418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984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 Title-</a:t>
            </a:r>
            <a:endParaRPr sz="26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highlight>
                  <a:srgbClr val="FFFFFF"/>
                </a:highlight>
              </a:rPr>
              <a:t>Extraction and Verification of Information from semi- categorized data.</a:t>
            </a:r>
            <a:endParaRPr sz="500"/>
          </a:p>
          <a:p>
            <a:pPr marL="285750" marR="0" lvl="0" indent="-2857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Theme-</a:t>
            </a:r>
            <a:r>
              <a:rPr lang="en-US" sz="2300">
                <a:solidFill>
                  <a:schemeClr val="dk1"/>
                </a:solidFill>
                <a:highlight>
                  <a:srgbClr val="FFFFFF"/>
                </a:highlight>
              </a:rPr>
              <a:t>Smart Automation</a:t>
            </a:r>
            <a:endParaRPr sz="500"/>
          </a:p>
          <a:p>
            <a:pPr marL="285750" marR="0" lvl="0" indent="-2984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Team Nam</a:t>
            </a:r>
            <a:r>
              <a:rPr lang="en-US" sz="2600" b="1">
                <a:solidFill>
                  <a:schemeClr val="dk1"/>
                </a:solidFill>
              </a:rPr>
              <a:t>e- </a:t>
            </a:r>
            <a:r>
              <a:rPr lang="en-US" sz="2600">
                <a:solidFill>
                  <a:schemeClr val="dk1"/>
                </a:solidFill>
              </a:rPr>
              <a:t>Hamming Code</a:t>
            </a:r>
            <a:endParaRPr sz="2600">
              <a:solidFill>
                <a:schemeClr val="dk1"/>
              </a:solidFill>
            </a:endParaRPr>
          </a:p>
        </p:txBody>
      </p:sp>
      <p:pic>
        <p:nvPicPr>
          <p:cNvPr id="68" name="Google Shape;68;p1" descr="Vasavi College of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9261" y="351666"/>
            <a:ext cx="1259840" cy="121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42698" y="5350730"/>
            <a:ext cx="1525224" cy="1311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"/>
          <p:cNvSpPr txBox="1">
            <a:spLocks noGrp="1"/>
          </p:cNvSpPr>
          <p:nvPr>
            <p:ph type="title"/>
          </p:nvPr>
        </p:nvSpPr>
        <p:spPr>
          <a:xfrm>
            <a:off x="820950" y="0"/>
            <a:ext cx="9925800" cy="6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IDEA Approach details</a:t>
            </a:r>
            <a:endParaRPr sz="3600"/>
          </a:p>
        </p:txBody>
      </p:sp>
      <p:sp>
        <p:nvSpPr>
          <p:cNvPr id="76" name="Google Shape;76;p2"/>
          <p:cNvSpPr txBox="1"/>
          <p:nvPr/>
        </p:nvSpPr>
        <p:spPr>
          <a:xfrm>
            <a:off x="1037200" y="1353825"/>
            <a:ext cx="5164200" cy="50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  <a:t>The idea approach for the problem statement involves</a:t>
            </a:r>
            <a:b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  <a:t>creating an </a:t>
            </a:r>
            <a:r>
              <a:rPr lang="en-US" sz="1500" b="1">
                <a:solidFill>
                  <a:schemeClr val="dk1"/>
                </a:solidFill>
                <a:highlight>
                  <a:srgbClr val="FFFFFF"/>
                </a:highlight>
              </a:rPr>
              <a:t>AI-powered document verification system</a:t>
            </a:r>
            <a:br>
              <a:rPr lang="en-US" sz="1500" b="1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  <a:t>that can extract and verify information from uploaded</a:t>
            </a:r>
            <a:b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  <a:t>documents.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  <a:t>     This system would streamline the application process</a:t>
            </a:r>
            <a:b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  <a:t>and </a:t>
            </a:r>
            <a:r>
              <a:rPr lang="en-US" sz="1500" b="1">
                <a:solidFill>
                  <a:schemeClr val="dk1"/>
                </a:solidFill>
                <a:highlight>
                  <a:srgbClr val="FFFFFF"/>
                </a:highlight>
              </a:rPr>
              <a:t>reduce processing time</a:t>
            </a:r>
            <a: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  <a:t> by automating the manual</a:t>
            </a:r>
            <a:b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500">
                <a:solidFill>
                  <a:schemeClr val="dk1"/>
                </a:solidFill>
                <a:highlight>
                  <a:srgbClr val="FFFFFF"/>
                </a:highlight>
              </a:rPr>
              <a:t>verification process!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0" lvl="0" indent="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In this document processing, the appeal can be divided into</a:t>
            </a:r>
            <a:b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extraction and verification.</a:t>
            </a:r>
            <a:endParaRPr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In </a:t>
            </a: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pilot extraction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, during form submission, it alerts the</a:t>
            </a:r>
            <a:b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user in case of any mismatch of the template.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In </a:t>
            </a: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accurate extraction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, before the verification, text is</a:t>
            </a:r>
            <a:b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extracted and processed.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Verification and </a:t>
            </a: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comparison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 of docs with the</a:t>
            </a:r>
            <a:b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authorized data sets provided by the government and</a:t>
            </a:r>
            <a:b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institutions.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1750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Analysis and </a:t>
            </a:r>
            <a:r>
              <a:rPr lang="en-US" b="1">
                <a:solidFill>
                  <a:schemeClr val="dk1"/>
                </a:solidFill>
                <a:highlight>
                  <a:srgbClr val="FFFFFF"/>
                </a:highlight>
              </a:rPr>
              <a:t>Visualization</a:t>
            </a: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 of the verified data is done</a:t>
            </a:r>
            <a:b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>
                <a:solidFill>
                  <a:schemeClr val="dk1"/>
                </a:solidFill>
                <a:highlight>
                  <a:srgbClr val="FFFFFF"/>
                </a:highlight>
              </a:rPr>
              <a:t>to get an overview of the categorized information.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marR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b="1" u="sng">
              <a:solidFill>
                <a:schemeClr val="dk2"/>
              </a:solidFill>
            </a:endParaRPr>
          </a:p>
        </p:txBody>
      </p:sp>
      <p:sp>
        <p:nvSpPr>
          <p:cNvPr id="77" name="Google Shape;77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78" name="Google Shape;78;p2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INNOVASIA 2K24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79" name="Google Shape;79;p2" descr="Vasavi College of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19177" y="136522"/>
            <a:ext cx="1259840" cy="121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53793" y="5334682"/>
            <a:ext cx="1525224" cy="131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6300" y="1506217"/>
            <a:ext cx="2638425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6300" y="3096892"/>
            <a:ext cx="4910003" cy="20853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819174" y="1139379"/>
            <a:ext cx="1330050" cy="195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395686b23_0_96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0" name="Google Shape;90;g31395686b23_0_968"/>
          <p:cNvSpPr txBox="1"/>
          <p:nvPr/>
        </p:nvSpPr>
        <p:spPr>
          <a:xfrm>
            <a:off x="485225" y="1150200"/>
            <a:ext cx="6581400" cy="48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5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chemeClr val="dk1"/>
                </a:solidFill>
                <a:highlight>
                  <a:srgbClr val="FFFFFF"/>
                </a:highlight>
              </a:rPr>
              <a:t>HOW IT ACTUALLY WORKS</a:t>
            </a:r>
            <a:endParaRPr sz="1600" b="1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The user first </a:t>
            </a:r>
            <a:r>
              <a:rPr lang="en-US" sz="1600" b="1">
                <a:solidFill>
                  <a:schemeClr val="dk1"/>
                </a:solidFill>
                <a:highlight>
                  <a:srgbClr val="FFFFFF"/>
                </a:highlight>
              </a:rPr>
              <a:t>uploads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the certificates and a first level of filtration</a:t>
            </a:r>
            <a:b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(check) is done.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Immediately the applicant is </a:t>
            </a:r>
            <a:r>
              <a:rPr lang="en-US" sz="1600" b="1">
                <a:solidFill>
                  <a:schemeClr val="dk1"/>
                </a:solidFill>
                <a:highlight>
                  <a:srgbClr val="FFFFFF"/>
                </a:highlight>
              </a:rPr>
              <a:t>alerted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 with the error and helps in</a:t>
            </a:r>
            <a:b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providing changes. After the changes, uploaded files can be</a:t>
            </a:r>
            <a:b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submitted.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The user’s uploaded files are instantly converted via </a:t>
            </a:r>
            <a:r>
              <a:rPr lang="en-US" sz="1600" b="1">
                <a:solidFill>
                  <a:schemeClr val="dk1"/>
                </a:solidFill>
                <a:highlight>
                  <a:srgbClr val="FFFFFF"/>
                </a:highlight>
              </a:rPr>
              <a:t>OCR</a:t>
            </a:r>
            <a:br>
              <a:rPr lang="en-US" sz="1600" b="1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(Optical Character Recognition) into a clear, readable format. If</a:t>
            </a:r>
            <a:b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necessary, language translation is also performed.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APIs can be utilized to cross-check the extracted information  and</a:t>
            </a:r>
            <a:b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a trained </a:t>
            </a:r>
            <a:r>
              <a:rPr lang="en-US" sz="1600" b="1">
                <a:solidFill>
                  <a:schemeClr val="dk1"/>
                </a:solidFill>
                <a:highlight>
                  <a:srgbClr val="FFFFFF"/>
                </a:highlight>
              </a:rPr>
              <a:t>Information Document Processing model </a:t>
            </a: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using NLP</a:t>
            </a:r>
            <a:b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is used to validate the data and identify any mistakes.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Information from these submitted files is </a:t>
            </a:r>
            <a:r>
              <a:rPr lang="en-US" sz="1600" b="1">
                <a:solidFill>
                  <a:schemeClr val="dk1"/>
                </a:solidFill>
                <a:highlight>
                  <a:srgbClr val="FFFFFF"/>
                </a:highlight>
              </a:rPr>
              <a:t>extracted and verified</a:t>
            </a:r>
            <a:br>
              <a:rPr lang="en-US" sz="1600" b="1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w.r.t the original files stored in the database</a:t>
            </a:r>
            <a:endParaRPr sz="16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marL="457200" lvl="0" indent="-330200" algn="l" rtl="0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After screening of applications, the extracted and verified data</a:t>
            </a:r>
            <a:b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</a:br>
            <a:r>
              <a:rPr lang="en-US" sz="1600">
                <a:solidFill>
                  <a:schemeClr val="dk1"/>
                </a:solidFill>
                <a:highlight>
                  <a:srgbClr val="FFFFFF"/>
                </a:highlight>
              </a:rPr>
              <a:t>will be presented using modern </a:t>
            </a:r>
            <a:r>
              <a:rPr lang="en-US" sz="1600" b="1">
                <a:solidFill>
                  <a:schemeClr val="dk1"/>
                </a:solidFill>
                <a:highlight>
                  <a:srgbClr val="FFFFFF"/>
                </a:highlight>
              </a:rPr>
              <a:t>Business Intelligent(BI) Tools.</a:t>
            </a:r>
            <a:endParaRPr sz="1600" b="1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91" name="Google Shape;91;g31395686b23_0_968"/>
          <p:cNvSpPr txBox="1"/>
          <p:nvPr/>
        </p:nvSpPr>
        <p:spPr>
          <a:xfrm>
            <a:off x="2821550" y="-244400"/>
            <a:ext cx="6239700" cy="12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6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IDEA Approach details</a:t>
            </a:r>
            <a:endParaRPr sz="3600">
              <a:solidFill>
                <a:schemeClr val="dk1"/>
              </a:solidFill>
            </a:endParaRPr>
          </a:p>
        </p:txBody>
      </p:sp>
      <p:pic>
        <p:nvPicPr>
          <p:cNvPr id="92" name="Google Shape;92;g31395686b23_0_9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94207" y="1150200"/>
            <a:ext cx="4724918" cy="419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INNOVASIA 2K24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00" name="Google Shape;100;p3" descr="Vasavi College of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4486" y="39966"/>
            <a:ext cx="1259840" cy="121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61794" y="5227400"/>
            <a:ext cx="1525224" cy="1311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8550" y="1095375"/>
            <a:ext cx="7863775" cy="469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22325" y="1705500"/>
            <a:ext cx="3717275" cy="2839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/>
          </a:p>
        </p:txBody>
      </p:sp>
      <p:sp>
        <p:nvSpPr>
          <p:cNvPr id="110" name="Google Shape;11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111" name="Google Shape;111;p4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INNOVASIA 2K24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12" name="Google Shape;112;p4" descr="Vasavi College of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4486" y="39966"/>
            <a:ext cx="1259840" cy="121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29102" y="5206724"/>
            <a:ext cx="1525224" cy="131151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790750" y="1347875"/>
            <a:ext cx="107916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/>
              <a:t>Technical Feasibility</a:t>
            </a:r>
            <a:endParaRPr sz="1800" b="1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Developing and deploying ML/DL models to recognize and extract information from a wide range of document types is technically feasible.</a:t>
            </a:r>
            <a:endParaRPr sz="18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Achieving Three Sigma accuracy (99.73%) is challenging but achievable with high-quality training data, pre-processing techniques, and continual model retraining. 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/>
              <a:t>Legal and Compliance Feasibility</a:t>
            </a:r>
            <a:endParaRPr sz="1800" b="1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Personal data, such as certificates and identification documents, must be handled in compliance with data protection laws.</a:t>
            </a:r>
            <a:endParaRPr sz="180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 b="1"/>
              <a:t>Time Feasibility</a:t>
            </a:r>
            <a:endParaRPr sz="1800" b="1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Training ML models to achieve high accuracy across diverse document types and languages will require time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/>
          </a:p>
        </p:txBody>
      </p:sp>
      <p:sp>
        <p:nvSpPr>
          <p:cNvPr id="121" name="Google Shape;121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22" name="Google Shape;122;p5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INNOVASIA 2K24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23" name="Google Shape;123;p5" descr="Vasavi College of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4486" y="39966"/>
            <a:ext cx="1259840" cy="121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14090" y="5763893"/>
            <a:ext cx="1020625" cy="877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257250"/>
            <a:ext cx="11546952" cy="450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"/>
          <p:cNvSpPr txBox="1">
            <a:spLocks noGrp="1"/>
          </p:cNvSpPr>
          <p:nvPr>
            <p:ph type="title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/>
          </a:p>
        </p:txBody>
      </p:sp>
      <p:sp>
        <p:nvSpPr>
          <p:cNvPr id="132" name="Google Shape;132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33" name="Google Shape;133;p6"/>
          <p:cNvSpPr txBox="1">
            <a:spLocks noGrp="1"/>
          </p:cNvSpPr>
          <p:nvPr>
            <p:ph type="ftr" idx="11"/>
          </p:nvPr>
        </p:nvSpPr>
        <p:spPr>
          <a:xfrm>
            <a:off x="4648200" y="6356353"/>
            <a:ext cx="3204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swald"/>
              <a:buNone/>
            </a:pPr>
            <a:r>
              <a:rPr lang="en-US">
                <a:solidFill>
                  <a:srgbClr val="FFFFFF"/>
                </a:solidFill>
              </a:rPr>
              <a:t>INNOVASIA 2K24 Template</a:t>
            </a:r>
            <a:endParaRPr sz="1200" b="0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34" name="Google Shape;134;p6" descr="Vasavi College of Engineeri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94486" y="39966"/>
            <a:ext cx="1259840" cy="12172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29102" y="5206724"/>
            <a:ext cx="1525224" cy="131151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6"/>
          <p:cNvSpPr txBox="1"/>
          <p:nvPr/>
        </p:nvSpPr>
        <p:spPr>
          <a:xfrm>
            <a:off x="197700" y="1473675"/>
            <a:ext cx="11384700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chemeClr val="dk1"/>
                </a:solidFill>
              </a:rPr>
              <a:t>“Document Verification System for Fraud Detection using Machine Learning Technique”</a:t>
            </a:r>
            <a:endParaRPr sz="2700" b="1">
              <a:solidFill>
                <a:schemeClr val="dk1"/>
              </a:solidFill>
            </a:endParaRPr>
          </a:p>
        </p:txBody>
      </p:sp>
      <p:sp>
        <p:nvSpPr>
          <p:cNvPr id="137" name="Google Shape;137;p6"/>
          <p:cNvSpPr txBox="1"/>
          <p:nvPr/>
        </p:nvSpPr>
        <p:spPr>
          <a:xfrm>
            <a:off x="195900" y="2775200"/>
            <a:ext cx="1180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https://www.researchgate.net/publication/380527994_Document_Verification_System_for_Fraud_Detection_using_Machine_Learning_Technique</a:t>
            </a:r>
            <a:endParaRPr/>
          </a:p>
        </p:txBody>
      </p:sp>
      <p:sp>
        <p:nvSpPr>
          <p:cNvPr id="138" name="Google Shape;138;p6"/>
          <p:cNvSpPr txBox="1"/>
          <p:nvPr/>
        </p:nvSpPr>
        <p:spPr>
          <a:xfrm>
            <a:off x="38400" y="3720125"/>
            <a:ext cx="11703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82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>
                <a:solidFill>
                  <a:schemeClr val="dk1"/>
                </a:solidFill>
              </a:rPr>
              <a:t>“Smart Data Processing: Unleashing the Power of AI and ML”</a:t>
            </a:r>
            <a:endParaRPr sz="2600" b="1">
              <a:solidFill>
                <a:schemeClr val="dk1"/>
              </a:solidFill>
            </a:endParaRPr>
          </a:p>
        </p:txBody>
      </p:sp>
      <p:sp>
        <p:nvSpPr>
          <p:cNvPr id="139" name="Google Shape;139;p6"/>
          <p:cNvSpPr txBox="1"/>
          <p:nvPr/>
        </p:nvSpPr>
        <p:spPr>
          <a:xfrm>
            <a:off x="244350" y="4591125"/>
            <a:ext cx="11703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https://www.researchgate.net/publication/376877991_Towards_Personalised_Mood_Prediction_and_Explanation_for_Depression_from_Biophysical_Data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543</Words>
  <Application>Microsoft Office PowerPoint</Application>
  <PresentationFormat>Widescreen</PresentationFormat>
  <Paragraphs>54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Times New Roman</vt:lpstr>
      <vt:lpstr>Garamond</vt:lpstr>
      <vt:lpstr>Calibri</vt:lpstr>
      <vt:lpstr>Oswald</vt:lpstr>
      <vt:lpstr>Arial</vt:lpstr>
      <vt:lpstr>Simple Light</vt:lpstr>
      <vt:lpstr>INNOVASIA 2K24</vt:lpstr>
      <vt:lpstr> IDEA Approach details</vt:lpstr>
      <vt:lpstr>PowerPoint Presentation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Crowdfunder</dc:creator>
  <cp:lastModifiedBy>Kidzee old bowenpally</cp:lastModifiedBy>
  <cp:revision>1</cp:revision>
  <dcterms:created xsi:type="dcterms:W3CDTF">2013-12-12T18:46:50Z</dcterms:created>
  <dcterms:modified xsi:type="dcterms:W3CDTF">2024-11-10T15:44:59Z</dcterms:modified>
</cp:coreProperties>
</file>
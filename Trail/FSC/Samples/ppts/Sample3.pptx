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73" r:id="rId5"/>
    <p:sldId id="258" r:id="rId6"/>
    <p:sldId id="272" r:id="rId7"/>
    <p:sldId id="271" r:id="rId8"/>
    <p:sldId id="260" r:id="rId9"/>
    <p:sldId id="275" r:id="rId10"/>
    <p:sldId id="278" r:id="rId11"/>
    <p:sldId id="261" r:id="rId12"/>
    <p:sldId id="277" r:id="rId1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492" autoAdjust="0"/>
  </p:normalViewPr>
  <p:slideViewPr>
    <p:cSldViewPr>
      <p:cViewPr varScale="1">
        <p:scale>
          <a:sx n="85" d="100"/>
          <a:sy n="85" d="100"/>
        </p:scale>
        <p:origin x="590" y="6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E03B7-B591-4A2A-B695-014C5A39F13E}" type="datetimeFigureOut">
              <a:rPr lang="en-US"/>
              <a:t>8/17/2024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322BB-75AD-4A1E-9661-2724167329F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705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FBD7B-E4FB-4AA8-9540-FD148073ACB3}" type="datetimeFigureOut">
              <a:rPr lang="en-US"/>
              <a:t>8/17/2024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5B7DE-1198-4F2F-B574-CA8CAE34164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31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1135743"/>
            <a:ext cx="1622332" cy="799981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324" y="362396"/>
            <a:ext cx="9141619" cy="16764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2089595"/>
            <a:ext cx="9141619" cy="886344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051-6E81-43E8-9099-FF6A0C3DCFE8}" type="datetime1">
              <a:rPr lang="en-US"/>
              <a:t>8/17/2024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751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3EA6D-DF0B-4D4B-B359-5F1D1D0E30A4}" type="datetime1">
              <a:rPr lang="en-US"/>
              <a:t>8/17/2024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15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3124415"/>
            <a:ext cx="1622332" cy="805061"/>
            <a:chOff x="0" y="2343311"/>
            <a:chExt cx="1217066" cy="603796"/>
          </a:xfrm>
        </p:grpSpPr>
        <p:sp>
          <p:nvSpPr>
            <p:cNvPr id="8" name="Rounded Rectangle 7"/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9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0" name="Freeform 19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324" y="1932518"/>
            <a:ext cx="9141619" cy="2105367"/>
          </a:xfrm>
        </p:spPr>
        <p:txBody>
          <a:bodyPr anchor="b">
            <a:normAutofit/>
          </a:bodyPr>
          <a:lstStyle>
            <a:lvl1pPr algn="l">
              <a:defRPr sz="60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324" y="4084264"/>
            <a:ext cx="9141619" cy="933297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EDB99-15BC-4479-BAC5-1E502E66917A}" type="datetime1">
              <a:rPr lang="en-US"/>
              <a:t>8/17/2024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69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C2A3-CD19-48AB-9F64-ECCF75182EDD}" type="datetime1">
              <a:rPr lang="en-US"/>
              <a:t>8/17/2024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779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E8C1-7C87-4705-AB97-8CD17D208E3F}" type="datetime1">
              <a:rPr lang="en-US"/>
              <a:t>8/17/2024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703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C624E-DF92-4841-B9B9-DD11AA239B85}" type="datetime1">
              <a:rPr lang="en-US"/>
              <a:t>8/17/2024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90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9" name="Freeform 8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3AE1-4360-4D5B-BDBC-656B872DD533}" type="datetime1">
              <a:rPr lang="en-US"/>
              <a:t>8/17/2024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539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530" y="1600200"/>
            <a:ext cx="6094413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3" y="1600202"/>
            <a:ext cx="3453500" cy="457199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90708-46A4-4851-883E-8DFB8939107E}" type="datetime1">
              <a:rPr lang="en-US"/>
              <a:t>8/17/2024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396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18887" y="1600200"/>
            <a:ext cx="6703850" cy="3657600"/>
          </a:xfrm>
          <a:prstGeom prst="roundRect">
            <a:avLst>
              <a:gd name="adj" fmla="val 309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600200"/>
            <a:ext cx="2844059" cy="3759200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EFFC-86AE-4294-A319-CAFC2651994B}" type="datetime1">
              <a:rPr lang="en-US"/>
              <a:t>8/17/2024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298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EAB04-7709-4C1E-A61A-74684A0170FC}" type="datetime1">
              <a:rPr lang="en-US"/>
              <a:t>8/17/2024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082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 rot="5400000">
            <a:off x="9583007" y="233864"/>
            <a:ext cx="1063300" cy="524046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" name="bottom graphic"/>
          <p:cNvGrpSpPr/>
          <p:nvPr/>
        </p:nvGrpSpPr>
        <p:grpSpPr>
          <a:xfrm>
            <a:off x="0" y="5395517"/>
            <a:ext cx="12188825" cy="1462483"/>
            <a:chOff x="0" y="4046638"/>
            <a:chExt cx="9144000" cy="1096862"/>
          </a:xfrm>
        </p:grpSpPr>
        <p:sp>
          <p:nvSpPr>
            <p:cNvPr id="16" name="Freeform 15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72"/>
            <p:cNvSpPr/>
            <p:nvPr/>
          </p:nvSpPr>
          <p:spPr bwMode="ltGray">
            <a:xfrm rot="5400000">
              <a:off x="4023569" y="23069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1060" y="1150514"/>
            <a:ext cx="1828324" cy="50216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1150514"/>
            <a:ext cx="8227457" cy="5021685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9BD0D-E0B1-4CED-AC65-708AC79EB9CD}" type="datetime1">
              <a:rPr lang="en-US"/>
              <a:t>8/17/2024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64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1" name="Freeform 20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grpSp>
        <p:nvGrpSpPr>
          <p:cNvPr id="7" name="squares"/>
          <p:cNvGrpSpPr/>
          <p:nvPr/>
        </p:nvGrpSpPr>
        <p:grpSpPr>
          <a:xfrm>
            <a:off x="1" y="800551"/>
            <a:ext cx="1063023" cy="524183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600200"/>
            <a:ext cx="9751060" cy="45720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8883" y="6448425"/>
            <a:ext cx="8288401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7913" y="6448425"/>
            <a:ext cx="142203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29E8617-6EA8-4B97-A5E8-E18E98765EE2}" type="datetime1">
              <a:rPr lang="en-US"/>
              <a:pPr/>
              <a:t>8/17/2024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516" y="6448425"/>
            <a:ext cx="812588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4C99D79-8A4B-4031-B1E0-AF26F8EDF2B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268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55772" indent="-304747" algn="l" defTabSz="1218987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067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8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1088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987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0108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619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129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A9B68-AB04-BC95-A1A7-2ADF80242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602" y="404664"/>
            <a:ext cx="9141619" cy="104093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Waste Management</a:t>
            </a:r>
            <a:endParaRPr lang="LID409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0C3AB-3B56-1EF4-D5CC-54B316722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601" y="1340769"/>
            <a:ext cx="9141619" cy="36004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20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Tracking, Reducing and Reusing of plastic waste!</a:t>
            </a:r>
            <a:endParaRPr lang="LID4096" sz="20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Recommendations for Smart Waste Management using Mobile Application and IoT">
            <a:extLst>
              <a:ext uri="{FF2B5EF4-FFF2-40B4-BE49-F238E27FC236}">
                <a16:creationId xmlns:a16="http://schemas.microsoft.com/office/drawing/2014/main" id="{99F283BF-C093-6770-50BB-9211F10A99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" t="12525" r="4682" b="6134"/>
          <a:stretch/>
        </p:blipFill>
        <p:spPr bwMode="auto">
          <a:xfrm>
            <a:off x="1845938" y="1844824"/>
            <a:ext cx="8496944" cy="3887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78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40323" y="1574794"/>
            <a:ext cx="10708178" cy="3708412"/>
          </a:xfrm>
        </p:spPr>
        <p:txBody>
          <a:bodyPr>
            <a:normAutofit/>
          </a:bodyPr>
          <a:lstStyle/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is a developing country, but it still lacks proper waste management.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be creating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will serve as a platform for consumers to get rid of accumulated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other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recyclable waste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home while also benefitting technologically.</a:t>
            </a:r>
          </a:p>
        </p:txBody>
      </p:sp>
    </p:spTree>
    <p:extLst>
      <p:ext uri="{BB962C8B-B14F-4D97-AF65-F5344CB8AC3E}">
        <p14:creationId xmlns:p14="http://schemas.microsoft.com/office/powerpoint/2010/main" val="204134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68DBF-C64E-BDBF-E18D-3B0CF2F4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121899" tIns="60949" rIns="121899" bIns="60949" rtlCol="0" anchor="b"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size and Statistics</a:t>
            </a:r>
            <a:endParaRPr lang="LID4096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CC978-4460-E8E0-7BFD-952FAB1E2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331" y="1916832"/>
            <a:ext cx="10564161" cy="4268215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Size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recycling industry in India is valued at approximately USD 5 billion and is growing rapidly due to the emphasis on circular economy practices.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Plastic Waste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India generates around 3.5 million tons of plastic waste annually. With rising awareness and regulatory measures, the market for plastic waste management is expanding.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Opportunities: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plastic recycling market is projected to grow at a CAGR of 6-8% over the next few years, driven by increased recycling activities and government policies. 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Initiatives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Initiatives like Swachh Bharat Abhiyan and the Plastic Waste Management Rules have provided a regulatory push, encouraging more investment and innovation in this sector.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LID4096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24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 Holders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B9830222-1065-7021-20FD-047AED1E8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2" y="1574794"/>
            <a:ext cx="9751060" cy="3708412"/>
          </a:xfrm>
        </p:spPr>
        <p:txBody>
          <a:bodyPr>
            <a:normAutofit/>
          </a:bodyPr>
          <a:lstStyle/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( households, individuals, small businesses 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Recycling Centers and Waste Management Companies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Municipalities and Government Bodies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and Marketing Partners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 and Transportation Partners</a:t>
            </a:r>
          </a:p>
        </p:txBody>
      </p:sp>
    </p:spTree>
    <p:extLst>
      <p:ext uri="{BB962C8B-B14F-4D97-AF65-F5344CB8AC3E}">
        <p14:creationId xmlns:p14="http://schemas.microsoft.com/office/powerpoint/2010/main" val="249061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DBD451-F50A-70EA-E3C6-541EBC94C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Scenario</a:t>
            </a:r>
            <a:endParaRPr lang="LID4096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C07DF-EED4-D1BD-0314-77242D79074F}"/>
              </a:ext>
            </a:extLst>
          </p:cNvPr>
          <p:cNvSpPr txBox="1"/>
          <p:nvPr/>
        </p:nvSpPr>
        <p:spPr>
          <a:xfrm>
            <a:off x="405780" y="1483702"/>
            <a:ext cx="1066353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 is facing significant challenges in managing its waste, particularly in urban areas where rapid population growth and urbanization are contributing to an increase in waste generation. </a:t>
            </a:r>
          </a:p>
          <a:p>
            <a:pPr algn="just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Waste Management Practices:</a:t>
            </a:r>
          </a:p>
          <a:p>
            <a:pPr algn="just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Segregation: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segregation at the source (household or business level) is not widely practiced, leading to mixed waste that is difficult to process and recycle.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Inadequate Infrastructure: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cities and towns lack the infrastructure needed for efficient waste segregation, collection, and processing. As a result, a large portion of waste is either dumped in open spaces or poorly managed landfills.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Informal Sector Involvement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informal sector, including waste pickers and small-scale recyclers, plays a crucial role in waste management. However, they often work in unsafe conditions without proper recognition or support.</a:t>
            </a:r>
          </a:p>
        </p:txBody>
      </p:sp>
    </p:spTree>
    <p:extLst>
      <p:ext uri="{BB962C8B-B14F-4D97-AF65-F5344CB8AC3E}">
        <p14:creationId xmlns:p14="http://schemas.microsoft.com/office/powerpoint/2010/main" val="289162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7868" y="620688"/>
            <a:ext cx="10801200" cy="1044352"/>
          </a:xfrm>
        </p:spPr>
        <p:txBody>
          <a:bodyPr>
            <a:noAutofit/>
          </a:bodyPr>
          <a:lstStyle/>
          <a:p>
            <a:br>
              <a:rPr lang="en-US" sz="3000" dirty="0"/>
            </a:br>
            <a:br>
              <a:rPr lang="en-US" sz="3000" dirty="0"/>
            </a:br>
            <a:br>
              <a:rPr lang="en-US" sz="3000" dirty="0"/>
            </a:br>
            <a:br>
              <a:rPr lang="en-US" sz="3000" dirty="0"/>
            </a:br>
            <a:br>
              <a:rPr lang="en-US" sz="3000" dirty="0"/>
            </a:b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SOLUTION-Predictive/Preventive </a:t>
            </a: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  <a:br>
              <a:rPr lang="en-US" sz="3000" dirty="0">
                <a:solidFill>
                  <a:schemeClr val="accent3"/>
                </a:solidFill>
              </a:rPr>
            </a:br>
            <a:endParaRPr lang="en-US" sz="3000" dirty="0">
              <a:solidFill>
                <a:schemeClr val="accent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AD86F-5235-37DC-6E49-3EAF378C33A8}"/>
              </a:ext>
            </a:extLst>
          </p:cNvPr>
          <p:cNvSpPr txBox="1"/>
          <p:nvPr/>
        </p:nvSpPr>
        <p:spPr>
          <a:xfrm>
            <a:off x="189756" y="1556792"/>
            <a:ext cx="6048672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Simply take a proper snapshot of the amount of plastic waste generated at your home and send it in our platform.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system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the user’s location and the nearest trader will be allocated to pick up the wastes and takes the snapshot of the waste received.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ML models are used in assessing the quality and quantity of plastic and generate credit points based on that information.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selling the plastic garbage to the trader, the app users get credit points which when reaches maturity they will receive cashbacks.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Web application also provides scope to buy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recycled plastic items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same website.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076D29-10EB-171D-85F3-D49131C44A92}"/>
              </a:ext>
            </a:extLst>
          </p:cNvPr>
          <p:cNvSpPr txBox="1"/>
          <p:nvPr/>
        </p:nvSpPr>
        <p:spPr>
          <a:xfrm>
            <a:off x="6886500" y="1556792"/>
            <a:ext cx="4824536" cy="401648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android and web based platform which serves the  term-”Waste Management”-a proper and efficient structure.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employment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those vendors who get stable income.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trader is allocated the AI-powered chatbot provides user interaction and real –time tracking of the user’s location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User’s are provided with a possibility to donate some amount towards the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educating rural students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795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D0DB49-E8FA-4917-AC1D-66C48EC9B8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3812" y="1772816"/>
            <a:ext cx="6264696" cy="2304256"/>
          </a:xfrm>
        </p:spPr>
        <p:txBody>
          <a:bodyPr>
            <a:normAutofit fontScale="32500" lnSpcReduction="20000"/>
          </a:bodyPr>
          <a:lstStyle/>
          <a:p>
            <a:r>
              <a:rPr lang="en-IN" dirty="0"/>
              <a:t>1.Take a snapshot of the plastic waste generated at home and upload it in the platform</a:t>
            </a:r>
          </a:p>
          <a:p>
            <a:r>
              <a:rPr lang="en-IN" dirty="0"/>
              <a:t>2.The automation system tracks the user’s location so the nearest traders allocated to pick up the waste </a:t>
            </a:r>
          </a:p>
          <a:p>
            <a:r>
              <a:rPr lang="en-IN" dirty="0"/>
              <a:t>3.The trader then takes </a:t>
            </a:r>
            <a:r>
              <a:rPr lang="en-IN" dirty="0" err="1"/>
              <a:t>snapchot</a:t>
            </a:r>
            <a:r>
              <a:rPr lang="en-IN" dirty="0"/>
              <a:t> of the waste collected and post it in the app.</a:t>
            </a:r>
          </a:p>
          <a:p>
            <a:r>
              <a:rPr lang="en-IN" dirty="0"/>
              <a:t>4.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and ML models are used in assessing the quality and quantity of plastic and generate credit points based on that information.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5.After selling the plastic garbage to the trader, the app users get credit points which when reaches maturity they will receive cashbacks.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6.This Web application also provides scope to buy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recycled plastic items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same website.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2487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58526E7-05DF-53AE-5843-5227749C1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Details and Tech-Stack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52C3D8-E5EA-D54B-DA1A-69F85D2AEC8B}"/>
              </a:ext>
            </a:extLst>
          </p:cNvPr>
          <p:cNvSpPr txBox="1"/>
          <p:nvPr/>
        </p:nvSpPr>
        <p:spPr>
          <a:xfrm>
            <a:off x="514197" y="1556737"/>
            <a:ext cx="1979815" cy="1754326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Front-End: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Reach.js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Vue.js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HTML5/CSS3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JavaScript</a:t>
            </a:r>
          </a:p>
          <a:p>
            <a:endParaRPr lang="LID4096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B6AC6-67D2-8C58-E3C1-9A388CBD6998}"/>
              </a:ext>
            </a:extLst>
          </p:cNvPr>
          <p:cNvSpPr txBox="1"/>
          <p:nvPr/>
        </p:nvSpPr>
        <p:spPr>
          <a:xfrm>
            <a:off x="2683972" y="1556737"/>
            <a:ext cx="1763791" cy="156966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Back-End: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Node.js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Python with Django</a:t>
            </a:r>
          </a:p>
          <a:p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57FEB-81E6-60D0-6831-3B134CF0326E}"/>
              </a:ext>
            </a:extLst>
          </p:cNvPr>
          <p:cNvSpPr txBox="1"/>
          <p:nvPr/>
        </p:nvSpPr>
        <p:spPr>
          <a:xfrm>
            <a:off x="333772" y="4701098"/>
            <a:ext cx="2592288" cy="1200329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Database: MongoDB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API Development:</a:t>
            </a:r>
          </a:p>
          <a:p>
            <a:r>
              <a:rPr lang="en-US" sz="1800" dirty="0"/>
              <a:t>Graph QL</a:t>
            </a:r>
          </a:p>
          <a:p>
            <a:r>
              <a:rPr lang="en-US" sz="1800" dirty="0"/>
              <a:t>RESTful API</a:t>
            </a:r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E5B76F-673A-711A-FBE4-723B0E573B58}"/>
              </a:ext>
            </a:extLst>
          </p:cNvPr>
          <p:cNvSpPr txBox="1"/>
          <p:nvPr/>
        </p:nvSpPr>
        <p:spPr>
          <a:xfrm>
            <a:off x="512677" y="3546938"/>
            <a:ext cx="1979815" cy="92333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Payment gateway: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S</a:t>
            </a:r>
            <a:r>
              <a:rPr lang="en-IN" sz="1800" dirty="0"/>
              <a:t>tripe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Razor pay</a:t>
            </a:r>
            <a:endParaRPr lang="LID4096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C885EA-FF4B-D5F5-E389-A05896595A5C}"/>
              </a:ext>
            </a:extLst>
          </p:cNvPr>
          <p:cNvSpPr txBox="1"/>
          <p:nvPr/>
        </p:nvSpPr>
        <p:spPr>
          <a:xfrm>
            <a:off x="4637723" y="1554875"/>
            <a:ext cx="2160240" cy="1754326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800" dirty="0"/>
              <a:t>Cloud Hosting and DevOps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AWS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Docker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Kubernetes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GitLab</a:t>
            </a:r>
            <a:endParaRPr lang="LID4096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B5724C-7FEB-A1B6-2316-630DA1C091F9}"/>
              </a:ext>
            </a:extLst>
          </p:cNvPr>
          <p:cNvSpPr txBox="1"/>
          <p:nvPr/>
        </p:nvSpPr>
        <p:spPr>
          <a:xfrm>
            <a:off x="3070076" y="3454605"/>
            <a:ext cx="2160240" cy="203132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Big Data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Apache Spark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Amazon S3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Tableau or Google Data Studio</a:t>
            </a:r>
            <a:endParaRPr lang="en-IN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Apache Kafka</a:t>
            </a:r>
            <a:endParaRPr lang="LID4096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A6A3BF-A5F7-FD60-810C-18B99CCFEA89}"/>
              </a:ext>
            </a:extLst>
          </p:cNvPr>
          <p:cNvSpPr txBox="1"/>
          <p:nvPr/>
        </p:nvSpPr>
        <p:spPr>
          <a:xfrm>
            <a:off x="5374332" y="3454605"/>
            <a:ext cx="1872208" cy="1754326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800" dirty="0"/>
              <a:t>AI/ML Frameworks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TensorFlow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/>
              <a:t>PyTorch</a:t>
            </a:r>
            <a:endParaRPr lang="en-IN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Scikit-learn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/>
              <a:t>Keras</a:t>
            </a:r>
            <a:endParaRPr lang="LID4096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E6E07F-6212-FD6F-B605-87C1FD9779FF}"/>
              </a:ext>
            </a:extLst>
          </p:cNvPr>
          <p:cNvSpPr txBox="1"/>
          <p:nvPr/>
        </p:nvSpPr>
        <p:spPr>
          <a:xfrm>
            <a:off x="5374332" y="5354335"/>
            <a:ext cx="2160240" cy="64633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Google Cloud </a:t>
            </a:r>
            <a:r>
              <a:rPr lang="en-US" sz="1800" dirty="0" err="1"/>
              <a:t>AutoML</a:t>
            </a:r>
            <a:r>
              <a:rPr lang="en-US" sz="1800" dirty="0"/>
              <a:t> or H2O.ai</a:t>
            </a:r>
            <a:endParaRPr lang="LID4096" sz="1800" dirty="0"/>
          </a:p>
        </p:txBody>
      </p:sp>
    </p:spTree>
    <p:extLst>
      <p:ext uri="{BB962C8B-B14F-4D97-AF65-F5344CB8AC3E}">
        <p14:creationId xmlns:p14="http://schemas.microsoft.com/office/powerpoint/2010/main" val="283383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81EA5-3131-4847-E7E4-1372D5539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5860" y="548680"/>
            <a:ext cx="9141619" cy="93329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Trash to Treasure…</a:t>
            </a:r>
            <a:endParaRPr lang="LID4096" sz="40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B6E4A-8768-A878-573E-6696F5F43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025" y="1388517"/>
            <a:ext cx="3804431" cy="35428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D9D25F-E9A6-4FF7-CC63-8F04EDDC4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686" y="1388517"/>
            <a:ext cx="3672408" cy="3672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860416-AC3B-1DD6-46EE-9B3E853F49D9}"/>
              </a:ext>
            </a:extLst>
          </p:cNvPr>
          <p:cNvSpPr txBox="1"/>
          <p:nvPr/>
        </p:nvSpPr>
        <p:spPr>
          <a:xfrm>
            <a:off x="7966620" y="5805264"/>
            <a:ext cx="3804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THANK YOU</a:t>
            </a:r>
          </a:p>
          <a:p>
            <a:r>
              <a:rPr lang="en-US" dirty="0"/>
              <a:t>Team – Idea BASKet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5488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oking 16x9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sh food presentation (widescreen).potx" id="{63DD3034-9CB5-4B6F-BCA0-530A5E267AB2}" vid="{9783A5E3-1DF2-4F3C-8902-0C2EB8A188D6}"/>
    </a:ext>
  </a:extLst>
</a:theme>
</file>

<file path=ppt/theme/theme2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14945D-DABB-422F-9B28-D299995C92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700CCB-20BA-4760-AB9F-AC3B63ED32E0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40262f94-9f35-4ac3-9a90-690165a166b7"/>
    <ds:schemaRef ds:uri="a4f35948-e619-41b3-aa29-22878b09cfd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08942AA-0721-4324-BC2C-A3CB43F24E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Fresh food presentation (widescreen)</Template>
  <TotalTime>140</TotalTime>
  <Words>763</Words>
  <Application>Microsoft Office PowerPoint</Application>
  <PresentationFormat>Custom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Constantia</vt:lpstr>
      <vt:lpstr>Times New Roman</vt:lpstr>
      <vt:lpstr>Wingdings</vt:lpstr>
      <vt:lpstr>Cooking 16x9</vt:lpstr>
      <vt:lpstr>Smart Waste Management</vt:lpstr>
      <vt:lpstr>Problem Statement</vt:lpstr>
      <vt:lpstr>Market size and Statistics</vt:lpstr>
      <vt:lpstr>Stake Holders</vt:lpstr>
      <vt:lpstr>Present Scenario</vt:lpstr>
      <vt:lpstr>     PROPOSED SOLUTION-Predictive/Preventive Maintenance </vt:lpstr>
      <vt:lpstr>PowerPoint Presentation</vt:lpstr>
      <vt:lpstr>Idea Details and Tech-Stack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Sahithi Marri</dc:creator>
  <cp:lastModifiedBy>Kidzee old bowenpally</cp:lastModifiedBy>
  <cp:revision>9</cp:revision>
  <dcterms:created xsi:type="dcterms:W3CDTF">2024-08-17T14:35:02Z</dcterms:created>
  <dcterms:modified xsi:type="dcterms:W3CDTF">2024-08-17T18:49:54Z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